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34747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⚡ AUTONOMOUS EVENT 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457200"/>
            <a:ext cx="2926080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🏛️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106424"/>
            <a:ext cx="62179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6217920" cy="42976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4000" b="1">
                <a:solidFill>
                  <a:srgbClr val="111827"/>
                </a:solidFill>
                <a:latin typeface="Arial Black"/>
              </a:defRPr>
            </a:pPr>
            <a:r>
              <a:t>DELTA ENGINE</a:t>
            </a:r>
          </a:p>
          <a:p>
            <a:pPr>
              <a:spcBef>
                <a:spcPts val="600"/>
              </a:spcBef>
              <a:defRPr sz="1600" b="1">
                <a:solidFill>
                  <a:srgbClr val="2563EB"/>
                </a:solidFill>
                <a:latin typeface="Segoe UI"/>
              </a:defRPr>
            </a:pPr>
            <a:r>
              <a:t>Autonomous, Agentic &amp; Self-Healing Event OS</a:t>
            </a:r>
          </a:p>
          <a:p>
            <a:pPr>
              <a:spcBef>
                <a:spcPts val="1200"/>
              </a:spcBef>
              <a:defRPr sz="1200">
                <a:solidFill>
                  <a:srgbClr val="4B5563"/>
                </a:solidFill>
                <a:latin typeface="Segoe UI"/>
              </a:defRPr>
            </a:pPr>
            <a:r>
              <a:t>A zero-latency operating system that autonomously resolves conference schedule conflicts, speaker delays, and venue capacity overshoots in real time without human intervention.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🤖 4-Agent Groq Swarm: Hybrid parallel-sequential LLM intelligence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⚡ &lt;150ms Self-Healing: Deterministic graph heuristic solvers</a:t>
            </a:r>
          </a:p>
          <a:p>
            <a:pPr>
              <a:spcBef>
                <a:spcPts val="8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📱 Multi-Channel Dispatch: Automated WhatsApp AI &amp; DKIM emails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7184" y="1106424"/>
            <a:ext cx="429768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0" y="1051560"/>
            <a:ext cx="4297680" cy="429768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1586484"/>
            <a:ext cx="3931920" cy="2621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4343400"/>
            <a:ext cx="3931920" cy="777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🌟 ZERO-LATENCY EVENT OS</a:t>
            </a:r>
            <a:br/>
            <a:r>
              <a:t>Validated with 500 High-Stress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5632704"/>
            <a:ext cx="10698480" cy="8229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" y="5609082"/>
            <a:ext cx="10698480" cy="8229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46304" rtlCol="0" anchor="ctr"/>
          <a:lstStyle/>
          <a:p>
            <a:pPr algn="ctr">
              <a:defRPr sz="1150" b="1">
                <a:solidFill>
                  <a:srgbClr val="111827"/>
                </a:solidFill>
                <a:latin typeface="Segoe UI"/>
              </a:defRPr>
            </a:pPr>
            <a:r>
              <a:rPr dirty="0"/>
              <a:t>TEAM DELTA  |  2nd Year CSM-C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onsolas"/>
              </a:defRPr>
            </a:pPr>
            <a:r>
              <a:rPr dirty="0"/>
              <a:t>25BK2A66D5 - ARYAN PANDEY   •   25BK1A66J2 - SHAIK SHAHIDUDDIN   •   25BK1A66J6 - SURYANSH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01 | THE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02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Why Large-Scale Events Break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Moving from manual coordination panic to deterministic autonomous self-healing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516636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4663440"/>
          </a:xfrm>
          <a:prstGeom prst="roundRect">
            <a:avLst/>
          </a:prstGeom>
          <a:solidFill>
            <a:srgbClr val="FEE2E2"/>
          </a:solidFill>
          <a:ln w="279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77240" rIns="320040" rtlCol="0" anchor="ctr"/>
          <a:lstStyle/>
          <a:p>
            <a:pPr algn="ctr"/>
            <a:endParaRPr/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Cascade Schedule Clashes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 single 30-min speaker delay triggers overlapping hall conflicts across subsequent sessions.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Dangerous Hall Overflow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Unregulated crowd surges exceed room safety capacities by up to 212% without warning.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❌ Fragmented Phone/Chat Calls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Coordinators, volunteers &amp; AV staff operate in disconnected silos with no single source of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859" y="2601505"/>
            <a:ext cx="2926080" cy="347472"/>
          </a:xfrm>
          <a:prstGeom prst="round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🚨 TRADITIONAL EVENT CHAOS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792224"/>
            <a:ext cx="516636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166360" cy="4663440"/>
          </a:xfrm>
          <a:prstGeom prst="roundRect">
            <a:avLst/>
          </a:prstGeom>
          <a:solidFill>
            <a:srgbClr val="DCFCE7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77240" rIns="320040" rtlCol="0" anchor="ctr"/>
          <a:lstStyle/>
          <a:p>
            <a:pPr algn="ctr"/>
            <a:endParaRPr/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Autonomous Graph Reallocation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Constraint algorithms instantly shift slots and execute clean room swaps in &lt;150ms.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Dynamic Capacity Protection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Monitors hall capacity matrices (250, 120, 60 pax) and balances audience distribution.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  <a:latin typeface="Segoe UI"/>
              </a:defRPr>
            </a:pPr>
            <a:r>
              <a:t>✅ Unified AI Emergency Dispatch</a:t>
            </a:r>
          </a:p>
          <a:p>
            <a:pPr>
              <a:spcBef>
                <a:spcPts val="200"/>
              </a:spcBef>
              <a:defRPr sz="1100">
                <a:solidFill>
                  <a:srgbClr val="4B5563"/>
                </a:solidFill>
                <a:latin typeface="Segoe UI"/>
              </a:defRPr>
            </a:pPr>
            <a:r>
              <a:t>Auto-dispatches WhatsApp messages &amp; DKIM-signed HTML emails to all affected parties.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601505"/>
            <a:ext cx="2926080" cy="347472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✨ DELTA AUTONOMOUS OS</a:t>
            </a:r>
          </a:p>
        </p:txBody>
      </p:sp>
      <p:pic>
        <p:nvPicPr>
          <p:cNvPr id="15" name="Picture 14" descr="he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920240"/>
            <a:ext cx="1097280" cy="1097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065778-6E5A-603A-F5C0-93F1EA972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14" y="1920240"/>
            <a:ext cx="1362531" cy="1362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02 |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03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Closed-Loop Autonomous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From real-time disruption telemetry to instant multi-channel 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783080" rIns="164592" rtlCol="0" anchor="ctr"/>
          <a:lstStyle/>
          <a:p>
            <a:pPr algn="ctr"/>
            <a:endParaRPr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Speaker delays ingested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Hall attendance sensors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REST API &amp; UI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212848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1. Telemetry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65576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783080" rIns="164592" rtlCol="0" anchor="ctr"/>
          <a:lstStyle/>
          <a:p>
            <a:pPr algn="ctr"/>
            <a:endParaRPr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10 Bounded iterations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Availability formulas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Optimal slot/hall swaps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1874519"/>
            <a:ext cx="2212848" cy="347472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2. Heuristic Solver</a:t>
            </a:r>
          </a:p>
        </p:txBody>
      </p:sp>
      <p:pic>
        <p:nvPicPr>
          <p:cNvPr id="14" name="Picture 1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523745"/>
            <a:ext cx="1097280" cy="1097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54496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783080" rIns="164592" rtlCol="0" anchor="ctr"/>
          <a:lstStyle/>
          <a:p>
            <a:pPr algn="ctr"/>
            <a:endParaRPr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4 Parallel LLM agents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Facility &amp; AV checks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Consensus logs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874519"/>
            <a:ext cx="2212848" cy="347472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3. Groq Swarm AI</a:t>
            </a:r>
          </a:p>
        </p:txBody>
      </p:sp>
      <p:pic>
        <p:nvPicPr>
          <p:cNvPr id="18" name="Picture 17" descr="negot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5" y="2523745"/>
            <a:ext cx="1152145" cy="115214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988552" y="1792224"/>
            <a:ext cx="2487168" cy="36576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33688" y="1737360"/>
            <a:ext cx="2487168" cy="3657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783080" rIns="164592" rtlCol="0" anchor="ctr"/>
          <a:lstStyle/>
          <a:p>
            <a:pPr algn="ctr"/>
            <a:endParaRPr/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In-Memory graph rebind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Full WebSocket broadcast</a:t>
            </a:r>
          </a:p>
          <a:p>
            <a:pPr>
              <a:spcBef>
                <a:spcPts val="600"/>
              </a:spcBef>
              <a:defRPr sz="1050">
                <a:solidFill>
                  <a:srgbClr val="111827"/>
                </a:solidFill>
                <a:latin typeface="Segoe UI"/>
              </a:defRPr>
            </a:pPr>
            <a:r>
              <a:t>• WhatsApp &amp; Email push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874519"/>
            <a:ext cx="2212848" cy="347472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4. Resync &amp; Dispatch</a:t>
            </a:r>
          </a:p>
        </p:txBody>
      </p:sp>
      <p:pic>
        <p:nvPicPr>
          <p:cNvPr id="22" name="Picture 21" descr="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523745"/>
            <a:ext cx="1097280" cy="109942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86384" y="5632704"/>
            <a:ext cx="10698480" cy="868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DBEAFE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Arial Black"/>
              </a:defRPr>
            </a:pPr>
            <a:r>
              <a:t>KEY ARCHITECTURAL SAFEGUARDS &amp; SPECS</a:t>
            </a:r>
          </a:p>
          <a:p>
            <a:pPr>
              <a:spcBef>
                <a:spcPts val="3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⚡ 10 Passes Max Iteration Bounded Guard  |  🕸️ In-Memory Neo4j-Style Relational Graph  |  🔄 Low-Latency WebSocket Broadcast (&lt;50ms)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26186FB-E296-64DC-C74C-205DDE258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878" y="2404871"/>
            <a:ext cx="1374180" cy="1374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03 |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04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Heterogeneous 4-Agent Groq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Hybrid parallel-sequential LLM pipeline specialized for real-time event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Ingests raw attendee feedback, speaker delay telemetry, and venue anomaly flags into structured 1-sentence situational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901952"/>
            <a:ext cx="2011680" cy="29260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🗣️ Liaison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90195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llama-3.1-8b-instant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79222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Executes high-order constraint logic to evaluate temporal conflicts, slot migrations, and speaker availability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01952"/>
            <a:ext cx="2011680" cy="292608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⏱️ Scheduler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90195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llama-3.3-70b-versatile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66674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Audits hall seating limits (Turing: 250, Lovelace: 120, Hopper: 60), AV technical equipment, and HVAC facilities balancing.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776472"/>
            <a:ext cx="2011680" cy="292608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🏛️ Logistics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77647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llama-3.3-70b-versatile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3666744"/>
            <a:ext cx="5166360" cy="16916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3611880"/>
            <a:ext cx="5166360" cy="1691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100">
                <a:solidFill>
                  <a:srgbClr val="111827"/>
                </a:solidFill>
                <a:latin typeface="Segoe UI"/>
              </a:defRPr>
            </a:pPr>
            <a:r>
              <a:t>Drafts real-time attendee announcements, updates public visual display banners, and synchronizes iCal calendar subscriptions.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776472"/>
            <a:ext cx="2011680" cy="292608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8B5CF6"/>
                </a:solidFill>
                <a:latin typeface="Segoe UI"/>
              </a:defRPr>
            </a:pPr>
            <a:r>
              <a:t>📢 Marketing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3776472"/>
            <a:ext cx="2560320" cy="292608"/>
          </a:xfrm>
          <a:prstGeom prst="roundRect">
            <a:avLst/>
          </a:prstGeom>
          <a:solidFill>
            <a:srgbClr val="F6F5F0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llama-3.1-8b-instant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5541264"/>
            <a:ext cx="10698480" cy="960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FEF3C7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defRPr sz="1150" b="1">
                <a:solidFill>
                  <a:srgbClr val="F59E0B"/>
                </a:solidFill>
                <a:latin typeface="Arial Black"/>
              </a:defRPr>
            </a:pPr>
            <a:r>
              <a:t>⚡ SUPER ADMIN LLM CIRCUIT BREAKER &amp; DETERMINISTIC FALLBACK</a:t>
            </a:r>
          </a:p>
          <a:p>
            <a:pPr>
              <a:spcBef>
                <a:spcPts val="3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In case of external LLM API outages or rate limits, the engine instantly engages a deterministic rule-based solver. Live conference operations never freeze or drop a single event.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04 | DISPATCH &amp;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05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Field Dispatch &amp; Hardened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Multi-channel attendee alerts backed by enterprise-grade crash 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74519" rIns="228600" rtlCol="0" anchor="ctr"/>
          <a:lstStyle/>
          <a:p>
            <a:pPr algn="ctr"/>
            <a:endParaRPr/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Automated Direct Dispatch: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Instant alerts sent to room leads and speakers via wa.me protocol.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Volunteer Duty Registry: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Direct tracking for stage leads, mic runners, and door scanners.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Live Telemetry Feeds: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Renders incoming delivery receipts directly inside coordinator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3017520" cy="347472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WhatsApp AI Liaison</a:t>
            </a:r>
          </a:p>
        </p:txBody>
      </p:sp>
      <p:pic>
        <p:nvPicPr>
          <p:cNvPr id="10" name="Picture 9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784348"/>
            <a:ext cx="1097280" cy="1097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439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74519" rIns="228600" rtlCol="0" anchor="ctr"/>
          <a:lstStyle/>
          <a:p>
            <a:pPr algn="ctr"/>
            <a:endParaRPr/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DKIM / SPF Signed: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Clean HTML templates prevent critical updates from hitting spam folders.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Audit Trail Logging: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Reallocation notices persisted permanently in Supabase PostgreSQL.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Resilient Offline Mode: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Local caching guarantees zero notification loss during network blips.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20240"/>
            <a:ext cx="3017520" cy="347472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Anti-Spam Supabase Email</a:t>
            </a:r>
          </a:p>
        </p:txBody>
      </p:sp>
      <p:pic>
        <p:nvPicPr>
          <p:cNvPr id="14" name="Picture 13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2784348"/>
            <a:ext cx="1097280" cy="1097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101584" y="1792224"/>
            <a:ext cx="33832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74519" rIns="228600" rtlCol="0" anchor="ctr"/>
          <a:lstStyle/>
          <a:p>
            <a:pPr algn="ctr"/>
            <a:endParaRPr/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Process Crash Guards: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Node uncaughtException listeners guarantee server never crashes.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Express Rate Limiter: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Protects all API endpoints against DoS floods and abuse.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Strict File Validation:</a:t>
            </a:r>
          </a:p>
          <a:p>
            <a:pPr>
              <a:spcBef>
                <a:spcPts val="200"/>
              </a:spcBef>
              <a:defRPr sz="1050">
                <a:solidFill>
                  <a:srgbClr val="4B5563"/>
                </a:solidFill>
                <a:latin typeface="Segoe UI"/>
              </a:defRPr>
            </a:pPr>
            <a:r>
              <a:t>Multer memory storage enforces strict 20MB buffer limits &amp; sanitization.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3017520" cy="347472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Security &amp; Crash Guards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59C9458-DAEE-804C-5CFE-44427721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121" y="2781890"/>
            <a:ext cx="1052477" cy="1052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05 | BENCHMARKS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06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Production Impact &amp; Live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Proven performance under extreme stress, deployed live in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87168" cy="1463040"/>
          </a:xfrm>
          <a:prstGeom prst="roundRect">
            <a:avLst/>
          </a:prstGeom>
          <a:solidFill>
            <a:srgbClr val="DCFCE7"/>
          </a:solidFill>
          <a:ln w="279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Ins="137160" rtlCol="0" anchor="ctr"/>
          <a:lstStyle/>
          <a:p>
            <a:pPr algn="ctr">
              <a:defRPr sz="2800" b="1">
                <a:solidFill>
                  <a:srgbClr val="10B981"/>
                </a:solidFill>
                <a:latin typeface="Arial Black"/>
              </a:defRPr>
            </a:pPr>
            <a:r>
              <a:rPr sz="2400" dirty="0"/>
              <a:t>&lt; 150 </a:t>
            </a:r>
            <a:r>
              <a:rPr sz="2400" dirty="0" err="1"/>
              <a:t>ms</a:t>
            </a:r>
            <a:endParaRPr sz="2400" dirty="0"/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rPr dirty="0"/>
              <a:t>Autonomous Conflict Healing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65576" y="1737360"/>
            <a:ext cx="2487168" cy="1463040"/>
          </a:xfrm>
          <a:prstGeom prst="roundRect">
            <a:avLst/>
          </a:prstGeom>
          <a:solidFill>
            <a:srgbClr val="DBEAFE"/>
          </a:solidFill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Ins="137160" rtlCol="0" anchor="ctr"/>
          <a:lstStyle/>
          <a:p>
            <a:pPr algn="ctr">
              <a:defRPr sz="2800" b="1">
                <a:solidFill>
                  <a:srgbClr val="2563EB"/>
                </a:solidFill>
                <a:latin typeface="Arial Black"/>
              </a:defRPr>
            </a:pPr>
            <a:r>
              <a:rPr sz="2400" dirty="0"/>
              <a:t>500 / 500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rPr dirty="0"/>
              <a:t>Concurrent Stress Tests 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2" y="1737360"/>
            <a:ext cx="2487168" cy="1463040"/>
          </a:xfrm>
          <a:prstGeom prst="roundRect">
            <a:avLst/>
          </a:prstGeom>
          <a:solidFill>
            <a:srgbClr val="F3E8FF"/>
          </a:solidFill>
          <a:ln w="279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Ins="137160" rtlCol="0" anchor="ctr"/>
          <a:lstStyle/>
          <a:p>
            <a:pPr algn="ctr">
              <a:defRPr sz="2800" b="1">
                <a:solidFill>
                  <a:srgbClr val="8B5CF6"/>
                </a:solidFill>
                <a:latin typeface="Arial Black"/>
              </a:defRPr>
            </a:pPr>
            <a:r>
              <a:rPr sz="2400" dirty="0"/>
              <a:t>4 Parallel LLMs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rPr dirty="0" err="1"/>
              <a:t>Groq</a:t>
            </a:r>
            <a:r>
              <a:rPr dirty="0"/>
              <a:t> Swarm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792224"/>
            <a:ext cx="2487168" cy="14630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33688" y="1737360"/>
            <a:ext cx="2487168" cy="1463040"/>
          </a:xfrm>
          <a:prstGeom prst="roundRect">
            <a:avLst/>
          </a:prstGeom>
          <a:solidFill>
            <a:srgbClr val="FEF3C7"/>
          </a:solidFill>
          <a:ln w="279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Ins="137160" rtlCol="0" anchor="ctr"/>
          <a:lstStyle/>
          <a:p>
            <a:pPr algn="ctr">
              <a:defRPr sz="2800" b="1">
                <a:solidFill>
                  <a:srgbClr val="F59E0B"/>
                </a:solidFill>
                <a:latin typeface="Arial Black"/>
              </a:defRPr>
            </a:pPr>
            <a:r>
              <a:rPr sz="2400" dirty="0"/>
              <a:t>100% Automat</a:t>
            </a:r>
            <a:r>
              <a:rPr lang="en-US" sz="2400" dirty="0"/>
              <a:t>e</a:t>
            </a:r>
            <a:r>
              <a:rPr sz="2400" dirty="0"/>
              <a:t>d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rPr dirty="0"/>
              <a:t>Zero Human Latency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483864"/>
            <a:ext cx="521208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5212080" cy="29718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640080" rIns="274320" rtlCol="0" anchor="ctr"/>
          <a:lstStyle/>
          <a:p>
            <a:pPr algn="ctr">
              <a:defRPr sz="1150" b="1">
                <a:solidFill>
                  <a:srgbClr val="2563EB"/>
                </a:solidFill>
                <a:latin typeface="Consolas"/>
              </a:defRPr>
            </a:pPr>
            <a:r>
              <a:t>Live URL: https://deltaengine.vercel.app/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Eliminates event scheduling delays and prevents room overcrowding.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Deterministic fallbacks ensure zero downtime even during API surges.</a:t>
            </a:r>
          </a:p>
          <a:p>
            <a:pPr>
              <a:spcBef>
                <a:spcPts val="600"/>
              </a:spcBef>
              <a:defRPr sz="1100">
                <a:solidFill>
                  <a:srgbClr val="111827"/>
                </a:solidFill>
                <a:latin typeface="Segoe UI"/>
              </a:defRPr>
            </a:pPr>
            <a:r>
              <a:t>• Next Roadmap: IoT room occupancy sensors &amp; Apple Wallet pass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15872" y="3909060"/>
            <a:ext cx="310896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🚀 LIVE PRODUCTION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483864"/>
            <a:ext cx="521208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12080" cy="29718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777240" rIns="320040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rPr dirty="0"/>
              <a:t>👤 25BK2A66D5 - ARYAN PANDEY</a:t>
            </a:r>
          </a:p>
          <a:p>
            <a:pPr>
              <a:spcBef>
                <a:spcPts val="80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rPr lang="en-US" dirty="0"/>
              <a:t>           </a:t>
            </a:r>
            <a:r>
              <a:rPr dirty="0"/>
              <a:t>👤 25BK1A66J2 - SHAIK SHAHIDUDDIN</a:t>
            </a:r>
          </a:p>
          <a:p>
            <a:pPr>
              <a:spcBef>
                <a:spcPts val="800"/>
              </a:spcBef>
              <a:defRPr sz="1200" b="1">
                <a:solidFill>
                  <a:srgbClr val="111827"/>
                </a:solidFill>
                <a:latin typeface="Consolas"/>
              </a:defRPr>
            </a:pPr>
            <a:r>
              <a:rPr lang="en-US" dirty="0"/>
              <a:t>           </a:t>
            </a:r>
            <a:r>
              <a:rPr dirty="0"/>
              <a:t>👤 25BK1A66J6 - SURYANSH SINGH</a:t>
            </a:r>
          </a:p>
          <a:p>
            <a:pPr>
              <a:spcBef>
                <a:spcPts val="1800"/>
              </a:spcBef>
              <a:defRPr sz="1050" b="1">
                <a:solidFill>
                  <a:srgbClr val="4B5563"/>
                </a:solidFill>
                <a:latin typeface="Segoe UI"/>
              </a:defRPr>
            </a:pPr>
            <a:r>
              <a:rPr dirty="0"/>
              <a:t>DELTA ENGINE  |  Autonomous Event Operating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909060"/>
            <a:ext cx="201168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rPr dirty="0"/>
              <a:t>TEAM DELTA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6815" y="3909060"/>
            <a:ext cx="256032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2nd Year CSM-C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06 | CONCLUSION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365760"/>
            <a:ext cx="109728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07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1827"/>
                </a:solidFill>
                <a:latin typeface="Arial Black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B5563"/>
                </a:solidFill>
                <a:latin typeface="Segoe UI"/>
              </a:defRPr>
            </a:pPr>
            <a:r>
              <a:t>Autonomous &amp; Self-Healing Event Operating System — Open for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792224"/>
            <a:ext cx="621792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621792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4400" b="1">
                <a:solidFill>
                  <a:srgbClr val="111827"/>
                </a:solidFill>
                <a:latin typeface="Arial Black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800" b="1">
                <a:solidFill>
                  <a:srgbClr val="2563EB"/>
                </a:solidFill>
                <a:latin typeface="Segoe UI"/>
              </a:defRPr>
            </a:pPr>
            <a:r>
              <a:t>Any Questions or Discussion?</a:t>
            </a:r>
          </a:p>
          <a:p>
            <a:pPr>
              <a:spcBef>
                <a:spcPts val="1400"/>
              </a:spcBef>
              <a:defRPr sz="1200">
                <a:solidFill>
                  <a:srgbClr val="4B5563"/>
                </a:solidFill>
                <a:latin typeface="Segoe UI"/>
              </a:defRPr>
            </a:pPr>
            <a:r>
              <a:t>DELTA ENGINE demonstrates how autonomous multi-agent swarms and in-memory graph solvers can completely eliminate human panic in large-scale live events.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⚡ &lt; 150ms Resolution: Sub-second autonomous healing latency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🤖 4 Groq AI Agents: Parallel temporal, logistics, and broadcast logic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Segoe UI"/>
              </a:defRPr>
            </a:pPr>
            <a:r>
              <a:t>• 🛡️ 100% Reliability: 500/500 high-concurrency stress test scenarios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7184" y="1792224"/>
            <a:ext cx="4297680" cy="46634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0" y="1737360"/>
            <a:ext cx="4297680" cy="4663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777240" rIns="274320" rtlCol="0" anchor="ctr"/>
          <a:lstStyle/>
          <a:p>
            <a:pPr algn="ctr">
              <a:defRPr sz="1100" b="1">
                <a:solidFill>
                  <a:srgbClr val="4B5563"/>
                </a:solidFill>
                <a:latin typeface="Arial Black"/>
              </a:defRPr>
            </a:pPr>
            <a:r>
              <a:t>PROJECT AUTHORS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25BK2A66D5 - ARYAN PANDEY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25BK1A66J2 - SHAIK SHAHIDUDDIN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Consolas"/>
              </a:defRPr>
            </a:pPr>
            <a:r>
              <a:t>👤 25BK1A66J6 - SURYANSH SINGH</a:t>
            </a:r>
          </a:p>
          <a:p>
            <a:pPr>
              <a:spcBef>
                <a:spcPts val="1000"/>
              </a:spcBef>
              <a:defRPr sz="900">
                <a:solidFill>
                  <a:srgbClr val="4B5563"/>
                </a:solidFill>
                <a:latin typeface="Segoe UI"/>
              </a:defRPr>
            </a:pPr>
            <a:r>
              <a:t>───────────────</a:t>
            </a:r>
          </a:p>
          <a:p>
            <a:pPr>
              <a:spcBef>
                <a:spcPts val="400"/>
              </a:spcBef>
              <a:defRPr sz="1000" b="1">
                <a:solidFill>
                  <a:srgbClr val="111827"/>
                </a:solidFill>
                <a:latin typeface="Segoe UI"/>
              </a:defRPr>
            </a:pPr>
            <a:r>
              <a:t>🌐 LIVE PRODUCTION SYSTEM:</a:t>
            </a:r>
          </a:p>
          <a:p>
            <a:pPr>
              <a:spcBef>
                <a:spcPts val="200"/>
              </a:spcBef>
              <a:defRPr sz="1100" b="1">
                <a:solidFill>
                  <a:srgbClr val="2563EB"/>
                </a:solidFill>
                <a:latin typeface="Consolas"/>
              </a:defRPr>
            </a:pPr>
            <a:r>
              <a:t>https://deltaengine.vercel.app/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624722"/>
            <a:ext cx="1828800" cy="320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TEAM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624722"/>
            <a:ext cx="1828800" cy="3200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000" b="1">
                <a:solidFill>
                  <a:srgbClr val="2563EB"/>
                </a:solidFill>
                <a:latin typeface="Segoe UI"/>
              </a:defRPr>
            </a:pPr>
            <a:r>
              <a:t>2nd Year CSM-C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946</Words>
  <Application>Microsoft Office PowerPoint</Application>
  <PresentationFormat>Widescreen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PANDEY</dc:creator>
  <cp:keywords/>
  <dc:description>generated using python-pptx</dc:description>
  <cp:lastModifiedBy>Aryan Pandey</cp:lastModifiedBy>
  <cp:revision>4</cp:revision>
  <dcterms:created xsi:type="dcterms:W3CDTF">2013-01-27T09:14:16Z</dcterms:created>
  <dcterms:modified xsi:type="dcterms:W3CDTF">2026-09-30T14:49:43Z</dcterms:modified>
  <cp:category/>
</cp:coreProperties>
</file>