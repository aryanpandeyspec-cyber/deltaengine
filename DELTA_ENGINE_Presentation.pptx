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⚡ AUTONOMOUS EVENT 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457200"/>
            <a:ext cx="2926080" cy="347472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🏛️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106424"/>
            <a:ext cx="62179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6217920" cy="42976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4000" b="1">
                <a:solidFill>
                  <a:srgbClr val="111827"/>
                </a:solidFill>
                <a:latin typeface="Arial Black"/>
              </a:defRPr>
            </a:pPr>
            <a:r>
              <a:t>DELTA ENGINE</a:t>
            </a:r>
          </a:p>
          <a:p>
            <a:pPr>
              <a:spcBef>
                <a:spcPts val="6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Autonomous, Agentic &amp; Self-Healing Event OS</a:t>
            </a:r>
          </a:p>
          <a:p>
            <a:pPr>
              <a:spcBef>
                <a:spcPts val="1200"/>
              </a:spcBef>
              <a:defRPr sz="1200">
                <a:solidFill>
                  <a:srgbClr val="4B5563"/>
                </a:solidFill>
                <a:latin typeface="Segoe UI"/>
              </a:defRPr>
            </a:pPr>
            <a:r>
              <a:t>A zero-latency operating system that autonomously resolves conference schedule conflicts, speaker delays, and venue capacity overshoots in real time without human intervention.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🤖 4-Agent Groq Swarm: Hybrid parallel-sequential LLM intelligence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⚡ &lt;150ms Self-Healing: Deterministic graph heuristic solvers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📱 Multi-Channel Dispatch: Automated WhatsApp AI &amp; DKIM emails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87184" y="1106424"/>
            <a:ext cx="429768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051560"/>
            <a:ext cx="4297680" cy="42976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34440"/>
            <a:ext cx="3931920" cy="2621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4343400"/>
            <a:ext cx="3931920" cy="777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0B981"/>
                </a:solidFill>
                <a:latin typeface="Segoe UI"/>
              </a:defRPr>
            </a:pPr>
            <a:r>
              <a:t>🌟 ZERO-LATENCY EVENT OS</a:t>
            </a:r>
            <a:br/>
            <a:r>
              <a:t>Validated with 500 High-Stress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5632704"/>
            <a:ext cx="10698480" cy="8229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46304"/>
          <a:lstStyle/>
          <a:p>
            <a:pPr algn="ctr">
              <a:defRPr sz="1150" b="1">
                <a:solidFill>
                  <a:srgbClr val="111827"/>
                </a:solidFill>
                <a:latin typeface="Segoe UI"/>
              </a:defRPr>
            </a:pPr>
            <a:r>
              <a:t>TEAM DELTA  |  2nd Year CSM-C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onsolas"/>
              </a:defRPr>
            </a:pPr>
            <a:r>
              <a:t>25BK2A66D5 - ARYAN PANDEY   •   25BK1A66J2 - SHAIK SHAHIDUDDIN   •   25BK1A66J6 - SURYANSH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01 | THE PARADIGM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Why Large-Scale Events Break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Moving from manual coordination panic to deterministic autonomous self-healing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516636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66360" cy="4663440"/>
          </a:xfrm>
          <a:prstGeom prst="roundRect">
            <a:avLst/>
          </a:prstGeom>
          <a:solidFill>
            <a:srgbClr val="FEE2E2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777240"/>
          <a:lstStyle/>
          <a:p>
            <a:pPr algn="ctr"/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❌ Cascade Schedule Clashes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A single 30-min speaker delay triggers overlapping hall conflicts across subsequent sessions.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❌ Dangerous Hall Overflow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Unregulated crowd surges exceed room safety capacities by up to 212% without warning.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❌ Fragmented Phone/Chat Calls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Coordinators, volunteers &amp; AV staff operate in disconnected silos with no single source of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2926080" cy="347472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FFFFFF"/>
                </a:solidFill>
                <a:latin typeface="Segoe UI"/>
              </a:defRPr>
            </a:pPr>
            <a:r>
              <a:t>🚨 TRADITIONAL EVENT CHAOS</a:t>
            </a:r>
          </a:p>
        </p:txBody>
      </p:sp>
      <p:pic>
        <p:nvPicPr>
          <p:cNvPr id="10" name="Picture 9" descr="15711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1097280" cy="1097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5394960"/>
            <a:ext cx="4617720" cy="7772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b="1" sz="1200">
                <a:solidFill>
                  <a:srgbClr val="EF4444"/>
                </a:solidFill>
                <a:latin typeface="Segoe UI"/>
              </a:defRPr>
            </a:pPr>
            <a:r>
              <a:t>⏱️  45+ Minutes Average Human Conflict Resolution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792224"/>
            <a:ext cx="516636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166360" cy="4663440"/>
          </a:xfrm>
          <a:prstGeom prst="roundRect">
            <a:avLst/>
          </a:prstGeom>
          <a:solidFill>
            <a:srgbClr val="DCFCE7"/>
          </a:solidFill>
          <a:ln w="279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777240"/>
          <a:lstStyle/>
          <a:p>
            <a:pPr algn="ctr"/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✅ Autonomous Graph Reallocation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Constraint algorithms instantly shift slots and execute clean room swaps in &lt;150ms.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✅ Dynamic Capacity Protection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Monitors hall capacity matrices (250, 120, 60 pax) and balances audience distribution.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✅ Unified AI Emergency Dispatch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Auto-dispatches WhatsApp messages &amp; DKIM-signed HTML emails to all affected parties.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65960"/>
            <a:ext cx="2926080" cy="347472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FFFFFF"/>
                </a:solidFill>
                <a:latin typeface="Segoe UI"/>
              </a:defRPr>
            </a:pPr>
            <a:r>
              <a:t>✨ DELTA AUTONOMOUS OS</a:t>
            </a:r>
          </a:p>
        </p:txBody>
      </p:sp>
      <p:pic>
        <p:nvPicPr>
          <p:cNvPr id="15" name="Picture 14" descr="he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920240"/>
            <a:ext cx="1097280" cy="10972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537960" y="5394960"/>
            <a:ext cx="4617720" cy="7772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b="1" sz="1200">
                <a:solidFill>
                  <a:srgbClr val="10B981"/>
                </a:solidFill>
                <a:latin typeface="Segoe UI"/>
              </a:defRPr>
            </a:pPr>
            <a:r>
              <a:t>⚡  &lt; 150 ms End-to-End Autonomous Resolution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02 | 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Closed-Loop Autonomous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From real-time disruption telemetry to instant multi-channel 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2487168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87168" cy="3657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783080"/>
          <a:lstStyle/>
          <a:p>
            <a:pPr algn="ctr"/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Speaker delays ingested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Hall attendance sensors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REST API &amp; UI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2212848" cy="347472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1. Telemetry Ingestion</a:t>
            </a:r>
          </a:p>
        </p:txBody>
      </p:sp>
      <p:pic>
        <p:nvPicPr>
          <p:cNvPr id="10" name="Picture 9" descr="15818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2331720"/>
            <a:ext cx="1097280" cy="1097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520440" y="1792224"/>
            <a:ext cx="2487168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5576" y="1737360"/>
            <a:ext cx="2487168" cy="3657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783080"/>
          <a:lstStyle/>
          <a:p>
            <a:pPr algn="ctr"/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10 Bounded iterations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Availability formulas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Optimal slot/hall swaps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1874519"/>
            <a:ext cx="2212848" cy="34747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F59E0B"/>
                </a:solidFill>
                <a:latin typeface="Segoe UI"/>
              </a:defRPr>
            </a:pPr>
            <a:r>
              <a:t>2. Heuristic Solver</a:t>
            </a:r>
          </a:p>
        </p:txBody>
      </p:sp>
      <p:pic>
        <p:nvPicPr>
          <p:cNvPr id="14" name="Picture 13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31720"/>
            <a:ext cx="1097280" cy="1097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54496" y="1792224"/>
            <a:ext cx="2487168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9632" y="1737360"/>
            <a:ext cx="2487168" cy="3657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783080"/>
          <a:lstStyle/>
          <a:p>
            <a:pPr algn="ctr"/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4 Parallel LLM agents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Facility &amp; AV checks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Consensus logs generated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874519"/>
            <a:ext cx="2212848" cy="347472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8B5CF6"/>
                </a:solidFill>
                <a:latin typeface="Segoe UI"/>
              </a:defRPr>
            </a:pPr>
            <a:r>
              <a:t>3. Groq Swarm AI</a:t>
            </a:r>
          </a:p>
        </p:txBody>
      </p:sp>
      <p:pic>
        <p:nvPicPr>
          <p:cNvPr id="18" name="Picture 17" descr="negoti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2331720"/>
            <a:ext cx="1097280" cy="10972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988552" y="1792224"/>
            <a:ext cx="2487168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33688" y="1737360"/>
            <a:ext cx="2487168" cy="3657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783080"/>
          <a:lstStyle/>
          <a:p>
            <a:pPr algn="ctr"/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In-Memory graph rebind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Full WebSocket broadcast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WhatsApp &amp; Email push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1874519"/>
            <a:ext cx="2212848" cy="347472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0B981"/>
                </a:solidFill>
                <a:latin typeface="Segoe UI"/>
              </a:defRPr>
            </a:pPr>
            <a:r>
              <a:t>4. Resync &amp; Dispatch</a:t>
            </a:r>
          </a:p>
        </p:txBody>
      </p:sp>
      <p:pic>
        <p:nvPicPr>
          <p:cNvPr id="22" name="Picture 21" descr="grap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331720"/>
            <a:ext cx="1097280" cy="1099423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86384" y="5632704"/>
            <a:ext cx="10698480" cy="868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DBEAFE"/>
          </a:solidFill>
          <a:ln w="279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100" b="1">
                <a:solidFill>
                  <a:srgbClr val="2563EB"/>
                </a:solidFill>
                <a:latin typeface="Arial Black"/>
              </a:defRPr>
            </a:pPr>
            <a:r>
              <a:t>KEY ARCHITECTURAL SAFEGUARDS &amp; SPECS</a:t>
            </a:r>
          </a:p>
          <a:p>
            <a:pPr>
              <a:spcBef>
                <a:spcPts val="3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⚡ 10 Passes Max Iteration Bounded Guard  |  🕸️ In-Memory Neo4j-Style Relational Graph  |  🔄 Low-Latency WebSocket Broadcast (&lt;50ms)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03 |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Heterogeneous 4-Agent Groq 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Hybrid parallel-sequential LLM pipeline specialized for real-time event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5166360" cy="1691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66360" cy="1691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100">
                <a:solidFill>
                  <a:srgbClr val="111827"/>
                </a:solidFill>
                <a:latin typeface="Segoe UI"/>
              </a:defRPr>
            </a:pPr>
            <a:r>
              <a:t>Ingests raw attendee feedback, speaker delay telemetry, and venue anomaly flags into structured 1-sentence situational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901952"/>
            <a:ext cx="2011680" cy="292608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🗣️ Liaison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901952"/>
            <a:ext cx="2560320" cy="292608"/>
          </a:xfrm>
          <a:prstGeom prst="roundRect">
            <a:avLst/>
          </a:prstGeom>
          <a:solidFill>
            <a:srgbClr val="F6F5F0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llama-3.1-8b-instant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792224"/>
            <a:ext cx="5166360" cy="1691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166360" cy="1691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100">
                <a:solidFill>
                  <a:srgbClr val="111827"/>
                </a:solidFill>
                <a:latin typeface="Segoe UI"/>
              </a:defRPr>
            </a:pPr>
            <a:r>
              <a:t>Executes high-order constraint logic to evaluate temporal conflicts, slot migrations, and speaker availability windows.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01952"/>
            <a:ext cx="2011680" cy="292608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F59E0B"/>
                </a:solidFill>
                <a:latin typeface="Segoe UI"/>
              </a:defRPr>
            </a:pPr>
            <a:r>
              <a:t>⏱️ Scheduler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901952"/>
            <a:ext cx="2560320" cy="292608"/>
          </a:xfrm>
          <a:prstGeom prst="roundRect">
            <a:avLst/>
          </a:prstGeom>
          <a:solidFill>
            <a:srgbClr val="F6F5F0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llama-3.3-70b-versatile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666744"/>
            <a:ext cx="5166360" cy="1691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5166360" cy="1691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100">
                <a:solidFill>
                  <a:srgbClr val="111827"/>
                </a:solidFill>
                <a:latin typeface="Segoe UI"/>
              </a:defRPr>
            </a:pPr>
            <a:r>
              <a:t>Audits hall seating limits (Turing: 250, Lovelace: 120, Hopper: 60), AV technical equipment, and HVAC facilities balancing.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776472"/>
            <a:ext cx="2011680" cy="292608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0B981"/>
                </a:solidFill>
                <a:latin typeface="Segoe UI"/>
              </a:defRPr>
            </a:pPr>
            <a:r>
              <a:t>🏛️ Logistics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776472"/>
            <a:ext cx="2560320" cy="292608"/>
          </a:xfrm>
          <a:prstGeom prst="roundRect">
            <a:avLst/>
          </a:prstGeom>
          <a:solidFill>
            <a:srgbClr val="F6F5F0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llama-3.3-70b-versatile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3666744"/>
            <a:ext cx="5166360" cy="1691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611880"/>
            <a:ext cx="5166360" cy="1691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94360"/>
          <a:lstStyle/>
          <a:p>
            <a:pPr algn="ctr">
              <a:defRPr sz="1100">
                <a:solidFill>
                  <a:srgbClr val="111827"/>
                </a:solidFill>
                <a:latin typeface="Segoe UI"/>
              </a:defRPr>
            </a:pPr>
            <a:r>
              <a:t>Drafts real-time attendee announcements, updates public visual display banners, and synchronizes iCal calendar subscriptions.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776472"/>
            <a:ext cx="2011680" cy="292608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8B5CF6"/>
                </a:solidFill>
                <a:latin typeface="Segoe UI"/>
              </a:defRPr>
            </a:pPr>
            <a:r>
              <a:t>📢 Marketing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3776472"/>
            <a:ext cx="2560320" cy="292608"/>
          </a:xfrm>
          <a:prstGeom prst="roundRect">
            <a:avLst/>
          </a:prstGeom>
          <a:solidFill>
            <a:srgbClr val="F6F5F0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llama-3.1-8b-instant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5541264"/>
            <a:ext cx="10698480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EF3C7"/>
          </a:solidFill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150" b="1">
                <a:solidFill>
                  <a:srgbClr val="F59E0B"/>
                </a:solidFill>
                <a:latin typeface="Arial Black"/>
              </a:defRPr>
            </a:pPr>
            <a:r>
              <a:t>⚡ SUPER ADMIN LLM CIRCUIT BREAKER &amp; DETERMINISTIC FALLBACK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In case of external LLM API outages or rate limits, the engine instantly engages a deterministic rule-based solver. Live conference operations never freeze or drop a single event.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04 | DISPATCH &amp;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Field Dispatch &amp; Hardened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Multi-channel attendee alerts backed by enterprise-grade crash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338328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74519"/>
          <a:lstStyle/>
          <a:p>
            <a:pPr algn="ctr"/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Automated Direct Dispatch: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Instant alerts sent to room leads and speakers via wa.me protocol.</a:t>
            </a:r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Volunteer Duty Registry: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Direct tracking for stage leads, mic runners, and door scanners.</a:t>
            </a:r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Live Telemetry Feeds: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Renders incoming delivery receipts directly inside coordinator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3017520" cy="347472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0B981"/>
                </a:solidFill>
                <a:latin typeface="Segoe UI"/>
              </a:defRPr>
            </a:pPr>
            <a:r>
              <a:t>WhatsApp AI Liaison</a:t>
            </a:r>
          </a:p>
        </p:txBody>
      </p:sp>
      <p:pic>
        <p:nvPicPr>
          <p:cNvPr id="10" name="Picture 9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377440"/>
            <a:ext cx="1097280" cy="1097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43984" y="1792224"/>
            <a:ext cx="338328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74519"/>
          <a:lstStyle/>
          <a:p>
            <a:pPr algn="ctr"/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DKIM / SPF Signed: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Clean HTML templates prevent critical updates from hitting spam folders.</a:t>
            </a:r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Audit Trail Logging: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Reallocation notices persisted permanently in Supabase PostgreSQL.</a:t>
            </a:r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Resilient Offline Mode: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Local caching guarantees zero notification loss during network blips.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20240"/>
            <a:ext cx="3017520" cy="347472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Anti-Spam Supabase Email</a:t>
            </a:r>
          </a:p>
        </p:txBody>
      </p:sp>
      <p:pic>
        <p:nvPicPr>
          <p:cNvPr id="14" name="Picture 13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77440"/>
            <a:ext cx="1097280" cy="1097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01584" y="1792224"/>
            <a:ext cx="338328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74519"/>
          <a:lstStyle/>
          <a:p>
            <a:pPr algn="ctr"/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Process Crash Guards: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Node uncaughtException listeners guarantee server never crashes.</a:t>
            </a:r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Express Rate Limiter: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Protects all API endpoints against DoS floods and abuse.</a:t>
            </a:r>
          </a:p>
          <a:p>
            <a:pPr>
              <a:spcBef>
                <a:spcPts val="800"/>
              </a:spcBef>
              <a:defRPr b="1" sz="1100">
                <a:solidFill>
                  <a:srgbClr val="111827"/>
                </a:solidFill>
                <a:latin typeface="Segoe UI"/>
              </a:defRPr>
            </a:pPr>
            <a:r>
              <a:t>• Strict File Validation: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Multer memory storage enforces strict 20MB buffer limits &amp; sanitization.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920240"/>
            <a:ext cx="3017520" cy="347472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EF4444"/>
                </a:solidFill>
                <a:latin typeface="Segoe UI"/>
              </a:defRPr>
            </a:pPr>
            <a:r>
              <a:t>Security &amp; Crash Guards</a:t>
            </a:r>
          </a:p>
        </p:txBody>
      </p:sp>
      <p:pic>
        <p:nvPicPr>
          <p:cNvPr id="18" name="Picture 17" descr="26823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3774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05 | BENCHMARKS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Production Impact &amp; Live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Proven performance under extreme stress, deployed live in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2487168" cy="1463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87168" cy="1463040"/>
          </a:xfrm>
          <a:prstGeom prst="roundRect">
            <a:avLst/>
          </a:prstGeom>
          <a:solidFill>
            <a:srgbClr val="DCFCE7"/>
          </a:solidFill>
          <a:ln w="279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2800" b="1">
                <a:solidFill>
                  <a:srgbClr val="10B981"/>
                </a:solidFill>
                <a:latin typeface="Arial Black"/>
              </a:defRPr>
            </a:pPr>
            <a:r>
              <a:t>&lt; 150 ms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Autonomous Conflict Healing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92224"/>
            <a:ext cx="2487168" cy="1463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5576" y="1737360"/>
            <a:ext cx="2487168" cy="1463040"/>
          </a:xfrm>
          <a:prstGeom prst="roundRect">
            <a:avLst/>
          </a:prstGeom>
          <a:solidFill>
            <a:srgbClr val="DBEAFE"/>
          </a:solidFill>
          <a:ln w="279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2800" b="1">
                <a:solidFill>
                  <a:srgbClr val="2563EB"/>
                </a:solidFill>
                <a:latin typeface="Arial Black"/>
              </a:defRPr>
            </a:pPr>
            <a:r>
              <a:t>500 / 500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Concurrent Stress 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92224"/>
            <a:ext cx="2487168" cy="1463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737360"/>
            <a:ext cx="2487168" cy="1463040"/>
          </a:xfrm>
          <a:prstGeom prst="roundRect">
            <a:avLst/>
          </a:prstGeom>
          <a:solidFill>
            <a:srgbClr val="F3E8FF"/>
          </a:solidFill>
          <a:ln w="279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2800" b="1">
                <a:solidFill>
                  <a:srgbClr val="8B5CF6"/>
                </a:solidFill>
                <a:latin typeface="Arial Black"/>
              </a:defRPr>
            </a:pPr>
            <a:r>
              <a:t>4 Parallel LLMs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Groq Swarm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792224"/>
            <a:ext cx="2487168" cy="1463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3688" y="1737360"/>
            <a:ext cx="2487168" cy="1463040"/>
          </a:xfrm>
          <a:prstGeom prst="roundRect">
            <a:avLst/>
          </a:prstGeom>
          <a:solidFill>
            <a:srgbClr val="FEF3C7"/>
          </a:solidFill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2800" b="1">
                <a:solidFill>
                  <a:srgbClr val="F59E0B"/>
                </a:solidFill>
                <a:latin typeface="Arial Black"/>
              </a:defRPr>
            </a:pPr>
            <a:r>
              <a:t>100% Automated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Zero Human Latency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483864"/>
            <a:ext cx="5212080" cy="2971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5212080" cy="29718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640080"/>
          <a:lstStyle/>
          <a:p>
            <a:pPr algn="ctr">
              <a:defRPr sz="1150" b="1">
                <a:solidFill>
                  <a:srgbClr val="2563EB"/>
                </a:solidFill>
                <a:latin typeface="Consolas"/>
              </a:defRPr>
            </a:pPr>
            <a:r>
              <a:t>Live URL: https://deltaengine.vercel.app/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Eliminates event scheduling delays and prevents room overcrowding.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Deterministic fallbacks ensure zero downtime even during API surges.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Next Roadmap: IoT room occupancy sensors &amp; Apple Wallet pass sync.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611880"/>
            <a:ext cx="310896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🚀 LIVE PRODUCTION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3483864"/>
            <a:ext cx="5212080" cy="2971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212080" cy="29718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777240"/>
          <a:lstStyle/>
          <a:p>
            <a:pPr algn="ctr">
              <a:spcBef>
                <a:spcPts val="0"/>
              </a:spcBef>
              <a:defRPr sz="1200" b="1">
                <a:solidFill>
                  <a:srgbClr val="111827"/>
                </a:solidFill>
                <a:latin typeface="Consolas"/>
              </a:defRPr>
            </a:pPr>
            <a:r>
              <a:t>👤 25BK2A66D5 - ARYAN PANDEY</a:t>
            </a:r>
          </a:p>
          <a:p>
            <a:pPr>
              <a:spcBef>
                <a:spcPts val="800"/>
              </a:spcBef>
              <a:defRPr sz="1200" b="1">
                <a:solidFill>
                  <a:srgbClr val="111827"/>
                </a:solidFill>
                <a:latin typeface="Consolas"/>
              </a:defRPr>
            </a:pPr>
            <a:r>
              <a:t>👤 25BK1A66J2 - SHAIK SHAHIDUDDIN</a:t>
            </a:r>
          </a:p>
          <a:p>
            <a:pPr>
              <a:spcBef>
                <a:spcPts val="800"/>
              </a:spcBef>
              <a:defRPr sz="1200" b="1">
                <a:solidFill>
                  <a:srgbClr val="111827"/>
                </a:solidFill>
                <a:latin typeface="Consolas"/>
              </a:defRPr>
            </a:pPr>
            <a:r>
              <a:t>👤 25BK1A66J6 - SURYANSH SINGH</a:t>
            </a:r>
          </a:p>
          <a:p>
            <a:pPr>
              <a:spcBef>
                <a:spcPts val="1800"/>
              </a:spcBef>
              <a:defRPr sz="1050" b="1">
                <a:solidFill>
                  <a:srgbClr val="4B5563"/>
                </a:solidFill>
                <a:latin typeface="Segoe UI"/>
              </a:defRPr>
            </a:pPr>
            <a:r>
              <a:t>DELTA ENGINE  |  Autonomous Event Operating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611880"/>
            <a:ext cx="201168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TEAM DELTA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3611880"/>
            <a:ext cx="256032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2nd Year CSM-C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06 | CONCLUSION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07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Autonomous &amp; Self-Healing Event Operating System — Open for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621792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621792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4400" b="1">
                <a:solidFill>
                  <a:srgbClr val="111827"/>
                </a:solidFill>
                <a:latin typeface="Arial Black"/>
              </a:defRPr>
            </a:pPr>
            <a:r>
              <a:t>THANK YOU!</a:t>
            </a:r>
          </a:p>
          <a:p>
            <a:pPr>
              <a:spcBef>
                <a:spcPts val="400"/>
              </a:spcBef>
              <a:defRPr sz="1800" b="1">
                <a:solidFill>
                  <a:srgbClr val="2563EB"/>
                </a:solidFill>
                <a:latin typeface="Segoe UI"/>
              </a:defRPr>
            </a:pPr>
            <a:r>
              <a:t>Any Questions or Discussion?</a:t>
            </a:r>
          </a:p>
          <a:p>
            <a:pPr>
              <a:spcBef>
                <a:spcPts val="1400"/>
              </a:spcBef>
              <a:defRPr sz="1200">
                <a:solidFill>
                  <a:srgbClr val="4B5563"/>
                </a:solidFill>
                <a:latin typeface="Segoe UI"/>
              </a:defRPr>
            </a:pPr>
            <a:r>
              <a:t>DELTA ENGINE demonstrates how autonomous multi-agent swarms and in-memory graph solvers can completely eliminate human panic in large-scale live events.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⚡ &lt; 150ms Resolution: Sub-second autonomous healing latency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🤖 4 Groq AI Agents: Parallel temporal, logistics, and broadcast logic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🛡️ 100% Reliability: 500/500 high-concurrency stress test scenarios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87184" y="1792224"/>
            <a:ext cx="429768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429768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77240"/>
          <a:lstStyle/>
          <a:p>
            <a:pPr algn="ctr">
              <a:defRPr sz="1100" b="1">
                <a:solidFill>
                  <a:srgbClr val="4B5563"/>
                </a:solidFill>
                <a:latin typeface="Arial Black"/>
              </a:defRPr>
            </a:pPr>
            <a:r>
              <a:t>PROJECT AUTHORS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Consolas"/>
              </a:defRPr>
            </a:pPr>
            <a:r>
              <a:t>👤 25BK2A66D5 - ARYAN PANDEY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Consolas"/>
              </a:defRPr>
            </a:pPr>
            <a:r>
              <a:t>👤 25BK1A66J2 - SHAIK SHAHIDUDDIN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Consolas"/>
              </a:defRPr>
            </a:pPr>
            <a:r>
              <a:t>👤 25BK1A66J6 - SURYANSH SINGH</a:t>
            </a:r>
          </a:p>
          <a:p>
            <a:pPr>
              <a:spcBef>
                <a:spcPts val="1000"/>
              </a:spcBef>
              <a:defRPr sz="900">
                <a:solidFill>
                  <a:srgbClr val="4B5563"/>
                </a:solidFill>
                <a:latin typeface="Segoe UI"/>
              </a:defRPr>
            </a:pPr>
            <a:r>
              <a:t>───────────────</a:t>
            </a:r>
          </a:p>
          <a:p>
            <a:pPr>
              <a:spcBef>
                <a:spcPts val="400"/>
              </a:spcBef>
              <a:defRPr sz="1000" b="1">
                <a:solidFill>
                  <a:srgbClr val="111827"/>
                </a:solidFill>
                <a:latin typeface="Segoe UI"/>
              </a:defRPr>
            </a:pPr>
            <a:r>
              <a:t>🌐 LIVE PRODUCTION SYSTEM: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onsolas"/>
              </a:defRPr>
            </a:pPr>
            <a:r>
              <a:t>https://deltaengine.vercel.app/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965960"/>
            <a:ext cx="18288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111827"/>
                </a:solidFill>
                <a:latin typeface="Segoe UI"/>
              </a:defRPr>
            </a:pPr>
            <a:r>
              <a:t>TEAM DELTA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965960"/>
            <a:ext cx="182880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b="1" sz="1000">
                <a:solidFill>
                  <a:srgbClr val="2563EB"/>
                </a:solidFill>
                <a:latin typeface="Segoe UI"/>
              </a:defRPr>
            </a:pPr>
            <a:r>
              <a:t>2nd Year CSM-C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