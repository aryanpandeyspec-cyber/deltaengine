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2926080" cy="347472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111827"/>
                </a:solidFill>
                <a:latin typeface="Segoe UI"/>
              </a:defRPr>
            </a:pPr>
            <a:r>
              <a:t>⚡ AUTONOMOUS EVENT 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94760" y="457200"/>
            <a:ext cx="2926080" cy="347472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2563EB"/>
                </a:solidFill>
                <a:latin typeface="Segoe UI"/>
              </a:defRPr>
            </a:pPr>
            <a:r>
              <a:t>🏛️ ENTERPRISE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" y="1106424"/>
            <a:ext cx="6217920" cy="429768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051560"/>
            <a:ext cx="6217920" cy="429768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4000" b="1">
                <a:solidFill>
                  <a:srgbClr val="111827"/>
                </a:solidFill>
                <a:latin typeface="Arial Black"/>
              </a:defRPr>
            </a:pPr>
            <a:r>
              <a:t>DELTA ENGINE</a:t>
            </a:r>
          </a:p>
          <a:p>
            <a:pPr>
              <a:spcBef>
                <a:spcPts val="600"/>
              </a:spcBef>
              <a:defRPr sz="1600" b="1">
                <a:solidFill>
                  <a:srgbClr val="2563EB"/>
                </a:solidFill>
                <a:latin typeface="Segoe UI"/>
              </a:defRPr>
            </a:pPr>
            <a:r>
              <a:t>Autonomous, Agentic &amp; Self-Healing Event OS</a:t>
            </a:r>
          </a:p>
          <a:p>
            <a:pPr>
              <a:spcBef>
                <a:spcPts val="1200"/>
              </a:spcBef>
              <a:defRPr sz="1200">
                <a:solidFill>
                  <a:srgbClr val="4B5563"/>
                </a:solidFill>
                <a:latin typeface="Segoe UI"/>
              </a:defRPr>
            </a:pPr>
            <a:r>
              <a:t>A zero-latency operating system that autonomously resolves conference schedule conflicts, speaker delays, and venue capacity overshoots in real time without human intervention.</a:t>
            </a:r>
          </a:p>
          <a:p>
            <a:pPr>
              <a:spcBef>
                <a:spcPts val="800"/>
              </a:spcBef>
              <a:defRPr sz="1100">
                <a:solidFill>
                  <a:srgbClr val="111827"/>
                </a:solidFill>
                <a:latin typeface="Segoe UI"/>
              </a:defRPr>
            </a:pPr>
            <a:r>
              <a:t>• 🤖 4-Agent Groq Swarm: Hybrid parallel-sequential LLM intelligence</a:t>
            </a:r>
          </a:p>
          <a:p>
            <a:pPr>
              <a:spcBef>
                <a:spcPts val="800"/>
              </a:spcBef>
              <a:defRPr sz="1100">
                <a:solidFill>
                  <a:srgbClr val="111827"/>
                </a:solidFill>
                <a:latin typeface="Segoe UI"/>
              </a:defRPr>
            </a:pPr>
            <a:r>
              <a:t>• ⚡ &lt;150ms Self-Healing: Deterministic graph heuristic solvers</a:t>
            </a:r>
          </a:p>
          <a:p>
            <a:pPr>
              <a:spcBef>
                <a:spcPts val="800"/>
              </a:spcBef>
              <a:defRPr sz="1100">
                <a:solidFill>
                  <a:srgbClr val="111827"/>
                </a:solidFill>
                <a:latin typeface="Segoe UI"/>
              </a:defRPr>
            </a:pPr>
            <a:r>
              <a:t>• 📱 Multi-Channel Dispatch: Automated WhatsApp AI &amp; DKIM emails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87184" y="1106424"/>
            <a:ext cx="4297680" cy="429768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0" y="1051560"/>
            <a:ext cx="4297680" cy="429768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234440"/>
            <a:ext cx="3931920" cy="26212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15200" y="4343400"/>
            <a:ext cx="3931920" cy="777240"/>
          </a:xfrm>
          <a:prstGeom prst="roundRect">
            <a:avLst/>
          </a:prstGeom>
          <a:solidFill>
            <a:srgbClr val="DCFCE7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10B981"/>
                </a:solidFill>
                <a:latin typeface="Segoe UI"/>
              </a:defRPr>
            </a:pPr>
            <a:r>
              <a:t>🌟 ZERO-LATENCY EVENT OS</a:t>
            </a:r>
            <a:br/>
            <a:r>
              <a:t>Validated with 500 High-Stress Scenarios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" y="5632704"/>
            <a:ext cx="10698480" cy="82296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5577840"/>
            <a:ext cx="10698480" cy="82296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46304"/>
          <a:lstStyle/>
          <a:p>
            <a:pPr algn="ctr">
              <a:defRPr sz="1150" b="1">
                <a:solidFill>
                  <a:srgbClr val="111827"/>
                </a:solidFill>
                <a:latin typeface="Segoe UI"/>
              </a:defRPr>
            </a:pPr>
            <a:r>
              <a:t>TEAM DELTA  |  2nd Year CSM-C</a:t>
            </a:r>
          </a:p>
          <a:p>
            <a:pPr>
              <a:spcBef>
                <a:spcPts val="200"/>
              </a:spcBef>
              <a:defRPr sz="1100" b="1">
                <a:solidFill>
                  <a:srgbClr val="2563EB"/>
                </a:solidFill>
                <a:latin typeface="Consolas"/>
              </a:defRPr>
            </a:pPr>
            <a:r>
              <a:t>25BK2A66D5 - ARYAN PANDEY   •   25BK1A66J2 - SHAIK SHAHIDUDDIN   •   25BK1A66J6 - SURYANSH SINGH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743200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111827"/>
                </a:solidFill>
                <a:latin typeface="Segoe UI"/>
              </a:defRPr>
            </a:pPr>
            <a:r>
              <a:t>01 | THE PARADIGM SHIFT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32720" y="365760"/>
            <a:ext cx="1097280" cy="320040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2563EB"/>
                </a:solidFill>
                <a:latin typeface="Segoe UI"/>
              </a:defRPr>
            </a:pPr>
            <a:r>
              <a:t>02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111827"/>
                </a:solidFill>
                <a:latin typeface="Arial Black"/>
              </a:defRPr>
            </a:pPr>
            <a:r>
              <a:t>Why Large-Scale Events Break 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>
                <a:solidFill>
                  <a:srgbClr val="4B5563"/>
                </a:solidFill>
                <a:latin typeface="Segoe UI"/>
              </a:defRPr>
            </a:pPr>
            <a:r>
              <a:t>Moving from manual coordination panic to deterministic autonomous self-healing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1792224"/>
            <a:ext cx="5166360" cy="466344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166360" cy="4663440"/>
          </a:xfrm>
          <a:prstGeom prst="roundRect">
            <a:avLst/>
          </a:prstGeom>
          <a:solidFill>
            <a:srgbClr val="FEE2E2"/>
          </a:solidFill>
          <a:ln w="279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777240"/>
          <a:lstStyle/>
          <a:p>
            <a:pPr algn="ctr"/>
          </a:p>
          <a:p>
            <a:pPr>
              <a:spcBef>
                <a:spcPts val="1000"/>
              </a:spcBef>
              <a:defRPr sz="1300" b="1">
                <a:solidFill>
                  <a:srgbClr val="111827"/>
                </a:solidFill>
                <a:latin typeface="Segoe UI"/>
              </a:defRPr>
            </a:pPr>
            <a:r>
              <a:t>❌ Cascade Schedule Clashes</a:t>
            </a:r>
          </a:p>
          <a:p>
            <a:pPr>
              <a:spcBef>
                <a:spcPts val="200"/>
              </a:spcBef>
              <a:defRPr sz="1100">
                <a:solidFill>
                  <a:srgbClr val="4B5563"/>
                </a:solidFill>
                <a:latin typeface="Segoe UI"/>
              </a:defRPr>
            </a:pPr>
            <a:r>
              <a:t>A single 30-min speaker delay triggers overlapping hall conflicts across subsequent sessions.</a:t>
            </a:r>
          </a:p>
          <a:p>
            <a:pPr>
              <a:spcBef>
                <a:spcPts val="1000"/>
              </a:spcBef>
              <a:defRPr sz="1300" b="1">
                <a:solidFill>
                  <a:srgbClr val="111827"/>
                </a:solidFill>
                <a:latin typeface="Segoe UI"/>
              </a:defRPr>
            </a:pPr>
            <a:r>
              <a:t>❌ Dangerous Hall Overflow</a:t>
            </a:r>
          </a:p>
          <a:p>
            <a:pPr>
              <a:spcBef>
                <a:spcPts val="200"/>
              </a:spcBef>
              <a:defRPr sz="1100">
                <a:solidFill>
                  <a:srgbClr val="4B5563"/>
                </a:solidFill>
                <a:latin typeface="Segoe UI"/>
              </a:defRPr>
            </a:pPr>
            <a:r>
              <a:t>Unregulated crowd surges exceed room safety capacities by up to 212% without warning.</a:t>
            </a:r>
          </a:p>
          <a:p>
            <a:pPr>
              <a:spcBef>
                <a:spcPts val="1000"/>
              </a:spcBef>
              <a:defRPr sz="1300" b="1">
                <a:solidFill>
                  <a:srgbClr val="111827"/>
                </a:solidFill>
                <a:latin typeface="Segoe UI"/>
              </a:defRPr>
            </a:pPr>
            <a:r>
              <a:t>❌ Fragmented Phone/Chat Calls</a:t>
            </a:r>
          </a:p>
          <a:p>
            <a:pPr>
              <a:spcBef>
                <a:spcPts val="200"/>
              </a:spcBef>
              <a:defRPr sz="1100">
                <a:solidFill>
                  <a:srgbClr val="4B5563"/>
                </a:solidFill>
                <a:latin typeface="Segoe UI"/>
              </a:defRPr>
            </a:pPr>
            <a:r>
              <a:t>Coordinators, volunteers &amp; AV staff operate in disconnected silos with no single source of truth.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1965960"/>
            <a:ext cx="2926080" cy="347472"/>
          </a:xfrm>
          <a:prstGeom prst="roundRect">
            <a:avLst/>
          </a:prstGeom>
          <a:solidFill>
            <a:srgbClr val="EF4444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FFFFFF"/>
                </a:solidFill>
                <a:latin typeface="Segoe UI"/>
              </a:defRPr>
            </a:pPr>
            <a:r>
              <a:t>🚨 TRADITIONAL EVENT CHAOS</a:t>
            </a:r>
          </a:p>
        </p:txBody>
      </p:sp>
      <p:pic>
        <p:nvPicPr>
          <p:cNvPr id="10" name="Picture 9" descr="157115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920240"/>
            <a:ext cx="1097280" cy="1097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005840" y="5394960"/>
            <a:ext cx="4617720" cy="7772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b="1" sz="1200">
                <a:solidFill>
                  <a:srgbClr val="EF4444"/>
                </a:solidFill>
                <a:latin typeface="Segoe UI"/>
              </a:defRPr>
            </a:pPr>
            <a:r>
              <a:t>⏱️  45+ Minutes Average Human Conflict Resolution 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18504" y="1792224"/>
            <a:ext cx="5166360" cy="466344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1737360"/>
            <a:ext cx="5166360" cy="4663440"/>
          </a:xfrm>
          <a:prstGeom prst="roundRect">
            <a:avLst/>
          </a:prstGeom>
          <a:solidFill>
            <a:srgbClr val="DCFCE7"/>
          </a:solidFill>
          <a:ln w="279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777240"/>
          <a:lstStyle/>
          <a:p>
            <a:pPr algn="ctr"/>
          </a:p>
          <a:p>
            <a:pPr>
              <a:spcBef>
                <a:spcPts val="1000"/>
              </a:spcBef>
              <a:defRPr sz="1300" b="1">
                <a:solidFill>
                  <a:srgbClr val="111827"/>
                </a:solidFill>
                <a:latin typeface="Segoe UI"/>
              </a:defRPr>
            </a:pPr>
            <a:r>
              <a:t>✅ Autonomous Graph Reallocation</a:t>
            </a:r>
          </a:p>
          <a:p>
            <a:pPr>
              <a:spcBef>
                <a:spcPts val="200"/>
              </a:spcBef>
              <a:defRPr sz="1100">
                <a:solidFill>
                  <a:srgbClr val="4B5563"/>
                </a:solidFill>
                <a:latin typeface="Segoe UI"/>
              </a:defRPr>
            </a:pPr>
            <a:r>
              <a:t>Constraint algorithms instantly shift slots and execute clean room swaps in &lt;150ms.</a:t>
            </a:r>
          </a:p>
          <a:p>
            <a:pPr>
              <a:spcBef>
                <a:spcPts val="1000"/>
              </a:spcBef>
              <a:defRPr sz="1300" b="1">
                <a:solidFill>
                  <a:srgbClr val="111827"/>
                </a:solidFill>
                <a:latin typeface="Segoe UI"/>
              </a:defRPr>
            </a:pPr>
            <a:r>
              <a:t>✅ Dynamic Capacity Protection</a:t>
            </a:r>
          </a:p>
          <a:p>
            <a:pPr>
              <a:spcBef>
                <a:spcPts val="200"/>
              </a:spcBef>
              <a:defRPr sz="1100">
                <a:solidFill>
                  <a:srgbClr val="4B5563"/>
                </a:solidFill>
                <a:latin typeface="Segoe UI"/>
              </a:defRPr>
            </a:pPr>
            <a:r>
              <a:t>Monitors hall capacity matrices (250, 120, 60 pax) and balances audience distribution.</a:t>
            </a:r>
          </a:p>
          <a:p>
            <a:pPr>
              <a:spcBef>
                <a:spcPts val="1000"/>
              </a:spcBef>
              <a:defRPr sz="1300" b="1">
                <a:solidFill>
                  <a:srgbClr val="111827"/>
                </a:solidFill>
                <a:latin typeface="Segoe UI"/>
              </a:defRPr>
            </a:pPr>
            <a:r>
              <a:t>✅ Unified AI Emergency Dispatch</a:t>
            </a:r>
          </a:p>
          <a:p>
            <a:pPr>
              <a:spcBef>
                <a:spcPts val="200"/>
              </a:spcBef>
              <a:defRPr sz="1100">
                <a:solidFill>
                  <a:srgbClr val="4B5563"/>
                </a:solidFill>
                <a:latin typeface="Segoe UI"/>
              </a:defRPr>
            </a:pPr>
            <a:r>
              <a:t>Auto-dispatches WhatsApp messages &amp; DKIM-signed HTML emails to all affected parties.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1965960"/>
            <a:ext cx="2926080" cy="347472"/>
          </a:xfrm>
          <a:prstGeom prst="roundRect">
            <a:avLst/>
          </a:prstGeom>
          <a:solidFill>
            <a:srgbClr val="10B98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FFFFFF"/>
                </a:solidFill>
                <a:latin typeface="Segoe UI"/>
              </a:defRPr>
            </a:pPr>
            <a:r>
              <a:t>✨ DELTA AUTONOMOUS OS</a:t>
            </a:r>
          </a:p>
        </p:txBody>
      </p:sp>
      <p:pic>
        <p:nvPicPr>
          <p:cNvPr id="15" name="Picture 14" descr="he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1920240"/>
            <a:ext cx="1097280" cy="109728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6537960" y="5394960"/>
            <a:ext cx="4617720" cy="7772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09728"/>
          <a:lstStyle/>
          <a:p>
            <a:pPr algn="ctr">
              <a:defRPr b="1" sz="1200">
                <a:solidFill>
                  <a:srgbClr val="10B981"/>
                </a:solidFill>
                <a:latin typeface="Segoe UI"/>
              </a:defRPr>
            </a:pPr>
            <a:r>
              <a:t>⚡  &lt; 150 ms End-to-End Autonomous Resolution Latency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743200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111827"/>
                </a:solidFill>
                <a:latin typeface="Segoe UI"/>
              </a:defRPr>
            </a:pPr>
            <a:r>
              <a:t>02 | ARCHITECTURE &amp; DATA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32720" y="365760"/>
            <a:ext cx="1097280" cy="320040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2563EB"/>
                </a:solidFill>
                <a:latin typeface="Segoe UI"/>
              </a:defRPr>
            </a:pPr>
            <a:r>
              <a:t>03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111827"/>
                </a:solidFill>
                <a:latin typeface="Arial Black"/>
              </a:defRPr>
            </a:pPr>
            <a:r>
              <a:t>Closed-Loop Autonomous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>
                <a:solidFill>
                  <a:srgbClr val="4B5563"/>
                </a:solidFill>
                <a:latin typeface="Segoe UI"/>
              </a:defRPr>
            </a:pPr>
            <a:r>
              <a:t>From real-time disruption telemetry to instant multi-channel dispatch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1792224"/>
            <a:ext cx="2487168" cy="365760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2487168" cy="365760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783080"/>
          <a:lstStyle/>
          <a:p>
            <a:pPr algn="ctr"/>
          </a:p>
          <a:p>
            <a:pPr>
              <a:spcBef>
                <a:spcPts val="600"/>
              </a:spcBef>
              <a:defRPr sz="1050">
                <a:solidFill>
                  <a:srgbClr val="111827"/>
                </a:solidFill>
                <a:latin typeface="Segoe UI"/>
              </a:defRPr>
            </a:pPr>
            <a:r>
              <a:t>• Speaker delays ingested</a:t>
            </a:r>
          </a:p>
          <a:p>
            <a:pPr>
              <a:spcBef>
                <a:spcPts val="600"/>
              </a:spcBef>
              <a:defRPr sz="1050">
                <a:solidFill>
                  <a:srgbClr val="111827"/>
                </a:solidFill>
                <a:latin typeface="Segoe UI"/>
              </a:defRPr>
            </a:pPr>
            <a:r>
              <a:t>• Hall attendance sensors</a:t>
            </a:r>
          </a:p>
          <a:p>
            <a:pPr>
              <a:spcBef>
                <a:spcPts val="600"/>
              </a:spcBef>
              <a:defRPr sz="1050">
                <a:solidFill>
                  <a:srgbClr val="111827"/>
                </a:solidFill>
                <a:latin typeface="Segoe UI"/>
              </a:defRPr>
            </a:pPr>
            <a:r>
              <a:t>• REST API &amp; UI triggers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874519"/>
            <a:ext cx="2212848" cy="347472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2563EB"/>
                </a:solidFill>
                <a:latin typeface="Segoe UI"/>
              </a:defRPr>
            </a:pPr>
            <a:r>
              <a:t>1. Telemetry Ingestion</a:t>
            </a:r>
          </a:p>
        </p:txBody>
      </p:sp>
      <p:pic>
        <p:nvPicPr>
          <p:cNvPr id="10" name="Picture 9" descr="158185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464" y="2331720"/>
            <a:ext cx="1097280" cy="1097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520440" y="1792224"/>
            <a:ext cx="2487168" cy="365760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65576" y="1737360"/>
            <a:ext cx="2487168" cy="365760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783080"/>
          <a:lstStyle/>
          <a:p>
            <a:pPr algn="ctr"/>
          </a:p>
          <a:p>
            <a:pPr>
              <a:spcBef>
                <a:spcPts val="600"/>
              </a:spcBef>
              <a:defRPr sz="1050">
                <a:solidFill>
                  <a:srgbClr val="111827"/>
                </a:solidFill>
                <a:latin typeface="Segoe UI"/>
              </a:defRPr>
            </a:pPr>
            <a:r>
              <a:t>• 10 Bounded iterations</a:t>
            </a:r>
          </a:p>
          <a:p>
            <a:pPr>
              <a:spcBef>
                <a:spcPts val="600"/>
              </a:spcBef>
              <a:defRPr sz="1050">
                <a:solidFill>
                  <a:srgbClr val="111827"/>
                </a:solidFill>
                <a:latin typeface="Segoe UI"/>
              </a:defRPr>
            </a:pPr>
            <a:r>
              <a:t>• Availability formulas</a:t>
            </a:r>
          </a:p>
          <a:p>
            <a:pPr>
              <a:spcBef>
                <a:spcPts val="600"/>
              </a:spcBef>
              <a:defRPr sz="1050">
                <a:solidFill>
                  <a:srgbClr val="111827"/>
                </a:solidFill>
                <a:latin typeface="Segoe UI"/>
              </a:defRPr>
            </a:pPr>
            <a:r>
              <a:t>• Optimal slot/hall swaps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2736" y="1874519"/>
            <a:ext cx="2212848" cy="347472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F59E0B"/>
                </a:solidFill>
                <a:latin typeface="Segoe UI"/>
              </a:defRPr>
            </a:pPr>
            <a:r>
              <a:t>2. Heuristic Solver</a:t>
            </a:r>
          </a:p>
        </p:txBody>
      </p:sp>
      <p:pic>
        <p:nvPicPr>
          <p:cNvPr id="14" name="Picture 13" descr="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2331720"/>
            <a:ext cx="1097280" cy="10972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254496" y="1792224"/>
            <a:ext cx="2487168" cy="365760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99632" y="1737360"/>
            <a:ext cx="2487168" cy="365760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783080"/>
          <a:lstStyle/>
          <a:p>
            <a:pPr algn="ctr"/>
          </a:p>
          <a:p>
            <a:pPr>
              <a:spcBef>
                <a:spcPts val="600"/>
              </a:spcBef>
              <a:defRPr sz="1050">
                <a:solidFill>
                  <a:srgbClr val="111827"/>
                </a:solidFill>
                <a:latin typeface="Segoe UI"/>
              </a:defRPr>
            </a:pPr>
            <a:r>
              <a:t>• 4 Parallel LLM agents</a:t>
            </a:r>
          </a:p>
          <a:p>
            <a:pPr>
              <a:spcBef>
                <a:spcPts val="600"/>
              </a:spcBef>
              <a:defRPr sz="1050">
                <a:solidFill>
                  <a:srgbClr val="111827"/>
                </a:solidFill>
                <a:latin typeface="Segoe UI"/>
              </a:defRPr>
            </a:pPr>
            <a:r>
              <a:t>• Facility &amp; AV checks</a:t>
            </a:r>
          </a:p>
          <a:p>
            <a:pPr>
              <a:spcBef>
                <a:spcPts val="600"/>
              </a:spcBef>
              <a:defRPr sz="1050">
                <a:solidFill>
                  <a:srgbClr val="111827"/>
                </a:solidFill>
                <a:latin typeface="Segoe UI"/>
              </a:defRPr>
            </a:pPr>
            <a:r>
              <a:t>• Consensus logs generated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36792" y="1874519"/>
            <a:ext cx="2212848" cy="347472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8B5CF6"/>
                </a:solidFill>
                <a:latin typeface="Segoe UI"/>
              </a:defRPr>
            </a:pPr>
            <a:r>
              <a:t>3. Groq Swarm AI</a:t>
            </a:r>
          </a:p>
        </p:txBody>
      </p:sp>
      <p:pic>
        <p:nvPicPr>
          <p:cNvPr id="18" name="Picture 17" descr="negoti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4576" y="2331720"/>
            <a:ext cx="1097280" cy="109728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8988552" y="1792224"/>
            <a:ext cx="2487168" cy="365760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933688" y="1737360"/>
            <a:ext cx="2487168" cy="365760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783080"/>
          <a:lstStyle/>
          <a:p>
            <a:pPr algn="ctr"/>
          </a:p>
          <a:p>
            <a:pPr>
              <a:spcBef>
                <a:spcPts val="600"/>
              </a:spcBef>
              <a:defRPr sz="1050">
                <a:solidFill>
                  <a:srgbClr val="111827"/>
                </a:solidFill>
                <a:latin typeface="Segoe UI"/>
              </a:defRPr>
            </a:pPr>
            <a:r>
              <a:t>• In-Memory graph rebind</a:t>
            </a:r>
          </a:p>
          <a:p>
            <a:pPr>
              <a:spcBef>
                <a:spcPts val="600"/>
              </a:spcBef>
              <a:defRPr sz="1050">
                <a:solidFill>
                  <a:srgbClr val="111827"/>
                </a:solidFill>
                <a:latin typeface="Segoe UI"/>
              </a:defRPr>
            </a:pPr>
            <a:r>
              <a:t>• Full WebSocket broadcast</a:t>
            </a:r>
          </a:p>
          <a:p>
            <a:pPr>
              <a:spcBef>
                <a:spcPts val="600"/>
              </a:spcBef>
              <a:defRPr sz="1050">
                <a:solidFill>
                  <a:srgbClr val="111827"/>
                </a:solidFill>
                <a:latin typeface="Segoe UI"/>
              </a:defRPr>
            </a:pPr>
            <a:r>
              <a:t>• WhatsApp &amp; Email push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70848" y="1874519"/>
            <a:ext cx="2212848" cy="347472"/>
          </a:xfrm>
          <a:prstGeom prst="roundRect">
            <a:avLst/>
          </a:prstGeom>
          <a:solidFill>
            <a:srgbClr val="DCFCE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10B981"/>
                </a:solidFill>
                <a:latin typeface="Segoe UI"/>
              </a:defRPr>
            </a:pPr>
            <a:r>
              <a:t>4. Resync &amp; Dispatch</a:t>
            </a:r>
          </a:p>
        </p:txBody>
      </p:sp>
      <p:pic>
        <p:nvPicPr>
          <p:cNvPr id="22" name="Picture 21" descr="grap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8632" y="2331720"/>
            <a:ext cx="1097280" cy="1099423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86384" y="5632704"/>
            <a:ext cx="10698480" cy="86868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520" y="5577840"/>
            <a:ext cx="10698480" cy="868680"/>
          </a:xfrm>
          <a:prstGeom prst="roundRect">
            <a:avLst/>
          </a:prstGeom>
          <a:solidFill>
            <a:srgbClr val="DBEAFE"/>
          </a:solidFill>
          <a:ln w="279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>
              <a:defRPr sz="1100" b="1">
                <a:solidFill>
                  <a:srgbClr val="2563EB"/>
                </a:solidFill>
                <a:latin typeface="Arial Black"/>
              </a:defRPr>
            </a:pPr>
            <a:r>
              <a:t>KEY ARCHITECTURAL SAFEGUARDS &amp; SPECS</a:t>
            </a:r>
          </a:p>
          <a:p>
            <a:pPr>
              <a:spcBef>
                <a:spcPts val="300"/>
              </a:spcBef>
              <a:defRPr sz="1100" b="1">
                <a:solidFill>
                  <a:srgbClr val="111827"/>
                </a:solidFill>
                <a:latin typeface="Segoe UI"/>
              </a:defRPr>
            </a:pPr>
            <a:r>
              <a:t>⚡ 10 Passes Max Iteration Bounded Guard  |  🕸️ In-Memory Neo4j-Style Relational Graph  |  🔄 Low-Latency WebSocket Broadcast (&lt;50ms)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743200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111827"/>
                </a:solidFill>
                <a:latin typeface="Segoe UI"/>
              </a:defRPr>
            </a:pPr>
            <a:r>
              <a:t>03 | ARTIFICIAL INTELLIGENCE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32720" y="365760"/>
            <a:ext cx="1097280" cy="320040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2563EB"/>
                </a:solidFill>
                <a:latin typeface="Segoe UI"/>
              </a:defRPr>
            </a:pPr>
            <a:r>
              <a:t>04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111827"/>
                </a:solidFill>
                <a:latin typeface="Arial Black"/>
              </a:defRPr>
            </a:pPr>
            <a:r>
              <a:t>Heterogeneous 4-Agent Groq Swarm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>
                <a:solidFill>
                  <a:srgbClr val="4B5563"/>
                </a:solidFill>
                <a:latin typeface="Segoe UI"/>
              </a:defRPr>
            </a:pPr>
            <a:r>
              <a:t>Hybrid parallel-sequential LLM pipeline specialized for real-time event governance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1792224"/>
            <a:ext cx="5166360" cy="169164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166360" cy="16916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594360"/>
          <a:lstStyle/>
          <a:p>
            <a:pPr algn="ctr">
              <a:defRPr sz="1100">
                <a:solidFill>
                  <a:srgbClr val="111827"/>
                </a:solidFill>
                <a:latin typeface="Segoe UI"/>
              </a:defRPr>
            </a:pPr>
            <a:r>
              <a:t>Ingests raw attendee feedback, speaker delay telemetry, and venue anomaly flags into structured 1-sentence situational updates.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1901952"/>
            <a:ext cx="2011680" cy="292608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2563EB"/>
                </a:solidFill>
                <a:latin typeface="Segoe UI"/>
              </a:defRPr>
            </a:pPr>
            <a:r>
              <a:t>🗣️ Liaison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1901952"/>
            <a:ext cx="2560320" cy="292608"/>
          </a:xfrm>
          <a:prstGeom prst="roundRect">
            <a:avLst/>
          </a:prstGeom>
          <a:solidFill>
            <a:srgbClr val="F6F5F0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111827"/>
                </a:solidFill>
                <a:latin typeface="Segoe UI"/>
              </a:defRPr>
            </a:pPr>
            <a:r>
              <a:t>llama-3.1-8b-instant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18504" y="1792224"/>
            <a:ext cx="5166360" cy="169164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1737360"/>
            <a:ext cx="5166360" cy="16916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594360"/>
          <a:lstStyle/>
          <a:p>
            <a:pPr algn="ctr">
              <a:defRPr sz="1100">
                <a:solidFill>
                  <a:srgbClr val="111827"/>
                </a:solidFill>
                <a:latin typeface="Segoe UI"/>
              </a:defRPr>
            </a:pPr>
            <a:r>
              <a:t>Executes high-order constraint logic to evaluate temporal conflicts, slot migrations, and speaker availability windows.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1901952"/>
            <a:ext cx="2011680" cy="292608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F59E0B"/>
                </a:solidFill>
                <a:latin typeface="Segoe UI"/>
              </a:defRPr>
            </a:pPr>
            <a:r>
              <a:t>⏱️ Scheduler Agent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41080" y="1901952"/>
            <a:ext cx="2560320" cy="292608"/>
          </a:xfrm>
          <a:prstGeom prst="roundRect">
            <a:avLst/>
          </a:prstGeom>
          <a:solidFill>
            <a:srgbClr val="F6F5F0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111827"/>
                </a:solidFill>
                <a:latin typeface="Segoe UI"/>
              </a:defRPr>
            </a:pPr>
            <a:r>
              <a:t>llama-3.3-70b-versatile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" y="3666744"/>
            <a:ext cx="5166360" cy="169164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3611880"/>
            <a:ext cx="5166360" cy="16916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594360"/>
          <a:lstStyle/>
          <a:p>
            <a:pPr algn="ctr">
              <a:defRPr sz="1100">
                <a:solidFill>
                  <a:srgbClr val="111827"/>
                </a:solidFill>
                <a:latin typeface="Segoe UI"/>
              </a:defRPr>
            </a:pPr>
            <a:r>
              <a:t>Audits hall seating limits (Turing: 250, Lovelace: 120, Hopper: 60), AV technical equipment, and HVAC facilities balancing.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3776472"/>
            <a:ext cx="2011680" cy="292608"/>
          </a:xfrm>
          <a:prstGeom prst="roundRect">
            <a:avLst/>
          </a:prstGeom>
          <a:solidFill>
            <a:srgbClr val="DCFCE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10B981"/>
                </a:solidFill>
                <a:latin typeface="Segoe UI"/>
              </a:defRPr>
            </a:pPr>
            <a:r>
              <a:t>🏛️ Logistics Agent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08960" y="3776472"/>
            <a:ext cx="2560320" cy="292608"/>
          </a:xfrm>
          <a:prstGeom prst="roundRect">
            <a:avLst/>
          </a:prstGeom>
          <a:solidFill>
            <a:srgbClr val="F6F5F0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111827"/>
                </a:solidFill>
                <a:latin typeface="Segoe UI"/>
              </a:defRPr>
            </a:pPr>
            <a:r>
              <a:t>llama-3.3-70b-versatile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18504" y="3666744"/>
            <a:ext cx="5166360" cy="169164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63640" y="3611880"/>
            <a:ext cx="5166360" cy="16916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594360"/>
          <a:lstStyle/>
          <a:p>
            <a:pPr algn="ctr">
              <a:defRPr sz="1100">
                <a:solidFill>
                  <a:srgbClr val="111827"/>
                </a:solidFill>
                <a:latin typeface="Segoe UI"/>
              </a:defRPr>
            </a:pPr>
            <a:r>
              <a:t>Drafts real-time attendee announcements, updates public visual display banners, and synchronizes iCal calendar subscriptions.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3776472"/>
            <a:ext cx="2011680" cy="292608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8B5CF6"/>
                </a:solidFill>
                <a:latin typeface="Segoe UI"/>
              </a:defRPr>
            </a:pPr>
            <a:r>
              <a:t>📢 Marketing 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41080" y="3776472"/>
            <a:ext cx="2560320" cy="292608"/>
          </a:xfrm>
          <a:prstGeom prst="roundRect">
            <a:avLst/>
          </a:prstGeom>
          <a:solidFill>
            <a:srgbClr val="F6F5F0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111827"/>
                </a:solidFill>
                <a:latin typeface="Segoe UI"/>
              </a:defRPr>
            </a:pPr>
            <a:r>
              <a:t>llama-3.1-8b-instant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" y="5541264"/>
            <a:ext cx="10698480" cy="96012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520" y="5486400"/>
            <a:ext cx="10698480" cy="960120"/>
          </a:xfrm>
          <a:prstGeom prst="roundRect">
            <a:avLst/>
          </a:prstGeom>
          <a:solidFill>
            <a:srgbClr val="FEF3C7"/>
          </a:solidFill>
          <a:ln w="279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defRPr sz="1150" b="1">
                <a:solidFill>
                  <a:srgbClr val="F59E0B"/>
                </a:solidFill>
                <a:latin typeface="Arial Black"/>
              </a:defRPr>
            </a:pPr>
            <a:r>
              <a:t>⚡ SUPER ADMIN LLM CIRCUIT BREAKER &amp; DETERMINISTIC FALLBACK</a:t>
            </a:r>
          </a:p>
          <a:p>
            <a:pPr>
              <a:spcBef>
                <a:spcPts val="300"/>
              </a:spcBef>
              <a:defRPr sz="1100">
                <a:solidFill>
                  <a:srgbClr val="111827"/>
                </a:solidFill>
                <a:latin typeface="Segoe UI"/>
              </a:defRPr>
            </a:pPr>
            <a:r>
              <a:t>In case of external LLM API outages or rate limits, the engine instantly engages a deterministic rule-based solver. Live conference operations never freeze or drop a single event.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743200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111827"/>
                </a:solidFill>
                <a:latin typeface="Segoe UI"/>
              </a:defRPr>
            </a:pPr>
            <a:r>
              <a:t>04 | DISPATCH &amp; INFRASTRUCTURE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32720" y="365760"/>
            <a:ext cx="1097280" cy="320040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2563EB"/>
                </a:solidFill>
                <a:latin typeface="Segoe UI"/>
              </a:defRPr>
            </a:pPr>
            <a:r>
              <a:t>05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111827"/>
                </a:solidFill>
                <a:latin typeface="Arial Black"/>
              </a:defRPr>
            </a:pPr>
            <a:r>
              <a:t>Field Dispatch &amp; Hardened Reliability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>
                <a:solidFill>
                  <a:srgbClr val="4B5563"/>
                </a:solidFill>
                <a:latin typeface="Segoe UI"/>
              </a:defRPr>
            </a:pPr>
            <a:r>
              <a:t>Multi-channel attendee alerts backed by enterprise-grade crash guards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1792224"/>
            <a:ext cx="3383280" cy="466344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3383280" cy="46634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74519"/>
          <a:lstStyle/>
          <a:p>
            <a:pPr algn="ctr"/>
          </a:p>
          <a:p>
            <a:pPr>
              <a:spcBef>
                <a:spcPts val="800"/>
              </a:spcBef>
              <a:defRPr b="1" sz="1100">
                <a:solidFill>
                  <a:srgbClr val="111827"/>
                </a:solidFill>
                <a:latin typeface="Segoe UI"/>
              </a:defRPr>
            </a:pPr>
            <a:r>
              <a:t>• Automated Direct Dispatch:</a:t>
            </a:r>
          </a:p>
          <a:p>
            <a:pPr>
              <a:spcBef>
                <a:spcPts val="200"/>
              </a:spcBef>
              <a:defRPr sz="1050">
                <a:solidFill>
                  <a:srgbClr val="4B5563"/>
                </a:solidFill>
                <a:latin typeface="Segoe UI"/>
              </a:defRPr>
            </a:pPr>
            <a:r>
              <a:t>Instant alerts sent to room leads and speakers via wa.me protocol.</a:t>
            </a:r>
          </a:p>
          <a:p>
            <a:pPr>
              <a:spcBef>
                <a:spcPts val="800"/>
              </a:spcBef>
              <a:defRPr b="1" sz="1100">
                <a:solidFill>
                  <a:srgbClr val="111827"/>
                </a:solidFill>
                <a:latin typeface="Segoe UI"/>
              </a:defRPr>
            </a:pPr>
            <a:r>
              <a:t>• Volunteer Duty Registry:</a:t>
            </a:r>
          </a:p>
          <a:p>
            <a:pPr>
              <a:spcBef>
                <a:spcPts val="200"/>
              </a:spcBef>
              <a:defRPr sz="1050">
                <a:solidFill>
                  <a:srgbClr val="4B5563"/>
                </a:solidFill>
                <a:latin typeface="Segoe UI"/>
              </a:defRPr>
            </a:pPr>
            <a:r>
              <a:t>Direct tracking for stage leads, mic runners, and door scanners.</a:t>
            </a:r>
          </a:p>
          <a:p>
            <a:pPr>
              <a:spcBef>
                <a:spcPts val="800"/>
              </a:spcBef>
              <a:defRPr b="1" sz="1100">
                <a:solidFill>
                  <a:srgbClr val="111827"/>
                </a:solidFill>
                <a:latin typeface="Segoe UI"/>
              </a:defRPr>
            </a:pPr>
            <a:r>
              <a:t>• Live Telemetry Feeds:</a:t>
            </a:r>
          </a:p>
          <a:p>
            <a:pPr>
              <a:spcBef>
                <a:spcPts val="200"/>
              </a:spcBef>
              <a:defRPr sz="1050">
                <a:solidFill>
                  <a:srgbClr val="4B5563"/>
                </a:solidFill>
                <a:latin typeface="Segoe UI"/>
              </a:defRPr>
            </a:pPr>
            <a:r>
              <a:t>Renders incoming delivery receipts directly inside coordinator dashboard.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920240"/>
            <a:ext cx="3017520" cy="347472"/>
          </a:xfrm>
          <a:prstGeom prst="roundRect">
            <a:avLst/>
          </a:prstGeom>
          <a:solidFill>
            <a:srgbClr val="DCFCE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10B981"/>
                </a:solidFill>
                <a:latin typeface="Segoe UI"/>
              </a:defRPr>
            </a:pPr>
            <a:r>
              <a:t>WhatsApp AI Liaison</a:t>
            </a:r>
          </a:p>
        </p:txBody>
      </p:sp>
      <p:pic>
        <p:nvPicPr>
          <p:cNvPr id="10" name="Picture 9" descr="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0" y="2377440"/>
            <a:ext cx="1097280" cy="1097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4443984" y="1792224"/>
            <a:ext cx="3383280" cy="466344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89120" y="1737360"/>
            <a:ext cx="3383280" cy="46634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74519"/>
          <a:lstStyle/>
          <a:p>
            <a:pPr algn="ctr"/>
          </a:p>
          <a:p>
            <a:pPr>
              <a:spcBef>
                <a:spcPts val="800"/>
              </a:spcBef>
              <a:defRPr b="1" sz="1100">
                <a:solidFill>
                  <a:srgbClr val="111827"/>
                </a:solidFill>
                <a:latin typeface="Segoe UI"/>
              </a:defRPr>
            </a:pPr>
            <a:r>
              <a:t>• DKIM / SPF Signed:</a:t>
            </a:r>
          </a:p>
          <a:p>
            <a:pPr>
              <a:spcBef>
                <a:spcPts val="200"/>
              </a:spcBef>
              <a:defRPr sz="1050">
                <a:solidFill>
                  <a:srgbClr val="4B5563"/>
                </a:solidFill>
                <a:latin typeface="Segoe UI"/>
              </a:defRPr>
            </a:pPr>
            <a:r>
              <a:t>Clean HTML templates prevent critical updates from hitting spam folders.</a:t>
            </a:r>
          </a:p>
          <a:p>
            <a:pPr>
              <a:spcBef>
                <a:spcPts val="800"/>
              </a:spcBef>
              <a:defRPr b="1" sz="1100">
                <a:solidFill>
                  <a:srgbClr val="111827"/>
                </a:solidFill>
                <a:latin typeface="Segoe UI"/>
              </a:defRPr>
            </a:pPr>
            <a:r>
              <a:t>• Audit Trail Logging:</a:t>
            </a:r>
          </a:p>
          <a:p>
            <a:pPr>
              <a:spcBef>
                <a:spcPts val="200"/>
              </a:spcBef>
              <a:defRPr sz="1050">
                <a:solidFill>
                  <a:srgbClr val="4B5563"/>
                </a:solidFill>
                <a:latin typeface="Segoe UI"/>
              </a:defRPr>
            </a:pPr>
            <a:r>
              <a:t>Reallocation notices persisted permanently in Supabase PostgreSQL.</a:t>
            </a:r>
          </a:p>
          <a:p>
            <a:pPr>
              <a:spcBef>
                <a:spcPts val="800"/>
              </a:spcBef>
              <a:defRPr b="1" sz="1100">
                <a:solidFill>
                  <a:srgbClr val="111827"/>
                </a:solidFill>
                <a:latin typeface="Segoe UI"/>
              </a:defRPr>
            </a:pPr>
            <a:r>
              <a:t>• Resilient Offline Mode:</a:t>
            </a:r>
          </a:p>
          <a:p>
            <a:pPr>
              <a:spcBef>
                <a:spcPts val="200"/>
              </a:spcBef>
              <a:defRPr sz="1050">
                <a:solidFill>
                  <a:srgbClr val="4B5563"/>
                </a:solidFill>
                <a:latin typeface="Segoe UI"/>
              </a:defRPr>
            </a:pPr>
            <a:r>
              <a:t>Local caching guarantees zero notification loss during network blips.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1920240"/>
            <a:ext cx="3017520" cy="347472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2563EB"/>
                </a:solidFill>
                <a:latin typeface="Segoe UI"/>
              </a:defRPr>
            </a:pPr>
            <a:r>
              <a:t>Anti-Spam Supabase Email</a:t>
            </a:r>
          </a:p>
        </p:txBody>
      </p:sp>
      <p:pic>
        <p:nvPicPr>
          <p:cNvPr id="14" name="Picture 13" descr="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2377440"/>
            <a:ext cx="1097280" cy="10972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101584" y="1792224"/>
            <a:ext cx="3383280" cy="466344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46720" y="1737360"/>
            <a:ext cx="3383280" cy="46634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74519"/>
          <a:lstStyle/>
          <a:p>
            <a:pPr algn="ctr"/>
          </a:p>
          <a:p>
            <a:pPr>
              <a:spcBef>
                <a:spcPts val="800"/>
              </a:spcBef>
              <a:defRPr b="1" sz="1100">
                <a:solidFill>
                  <a:srgbClr val="111827"/>
                </a:solidFill>
                <a:latin typeface="Segoe UI"/>
              </a:defRPr>
            </a:pPr>
            <a:r>
              <a:t>• Process Crash Guards:</a:t>
            </a:r>
          </a:p>
          <a:p>
            <a:pPr>
              <a:spcBef>
                <a:spcPts val="200"/>
              </a:spcBef>
              <a:defRPr sz="1050">
                <a:solidFill>
                  <a:srgbClr val="4B5563"/>
                </a:solidFill>
                <a:latin typeface="Segoe UI"/>
              </a:defRPr>
            </a:pPr>
            <a:r>
              <a:t>Node uncaughtException listeners guarantee server never crashes.</a:t>
            </a:r>
          </a:p>
          <a:p>
            <a:pPr>
              <a:spcBef>
                <a:spcPts val="800"/>
              </a:spcBef>
              <a:defRPr b="1" sz="1100">
                <a:solidFill>
                  <a:srgbClr val="111827"/>
                </a:solidFill>
                <a:latin typeface="Segoe UI"/>
              </a:defRPr>
            </a:pPr>
            <a:r>
              <a:t>• Express Rate Limiter:</a:t>
            </a:r>
          </a:p>
          <a:p>
            <a:pPr>
              <a:spcBef>
                <a:spcPts val="200"/>
              </a:spcBef>
              <a:defRPr sz="1050">
                <a:solidFill>
                  <a:srgbClr val="4B5563"/>
                </a:solidFill>
                <a:latin typeface="Segoe UI"/>
              </a:defRPr>
            </a:pPr>
            <a:r>
              <a:t>Protects all API endpoints against DoS floods and abuse.</a:t>
            </a:r>
          </a:p>
          <a:p>
            <a:pPr>
              <a:spcBef>
                <a:spcPts val="800"/>
              </a:spcBef>
              <a:defRPr b="1" sz="1100">
                <a:solidFill>
                  <a:srgbClr val="111827"/>
                </a:solidFill>
                <a:latin typeface="Segoe UI"/>
              </a:defRPr>
            </a:pPr>
            <a:r>
              <a:t>• Strict File Validation:</a:t>
            </a:r>
          </a:p>
          <a:p>
            <a:pPr>
              <a:spcBef>
                <a:spcPts val="200"/>
              </a:spcBef>
              <a:defRPr sz="1050">
                <a:solidFill>
                  <a:srgbClr val="4B5563"/>
                </a:solidFill>
                <a:latin typeface="Segoe UI"/>
              </a:defRPr>
            </a:pPr>
            <a:r>
              <a:t>Multer memory storage enforces strict 20MB buffer limits &amp; sanitization.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920240"/>
            <a:ext cx="3017520" cy="347472"/>
          </a:xfrm>
          <a:prstGeom prst="roundRect">
            <a:avLst/>
          </a:prstGeom>
          <a:solidFill>
            <a:srgbClr val="FEE2E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EF4444"/>
                </a:solidFill>
                <a:latin typeface="Segoe UI"/>
              </a:defRPr>
            </a:pPr>
            <a:r>
              <a:t>Security &amp; Crash Guards</a:t>
            </a:r>
          </a:p>
        </p:txBody>
      </p:sp>
      <p:pic>
        <p:nvPicPr>
          <p:cNvPr id="18" name="Picture 17" descr="268234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0" y="2377440"/>
            <a:ext cx="1097280" cy="1097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743200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111827"/>
                </a:solidFill>
                <a:latin typeface="Segoe UI"/>
              </a:defRPr>
            </a:pPr>
            <a:r>
              <a:t>05 | BENCHMARKS &amp; ROADMAP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32720" y="365760"/>
            <a:ext cx="1097280" cy="320040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2563EB"/>
                </a:solidFill>
                <a:latin typeface="Segoe UI"/>
              </a:defRPr>
            </a:pPr>
            <a:r>
              <a:t>06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111827"/>
                </a:solidFill>
                <a:latin typeface="Arial Black"/>
              </a:defRPr>
            </a:pPr>
            <a:r>
              <a:t>Production Impact &amp; Live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>
                <a:solidFill>
                  <a:srgbClr val="4B5563"/>
                </a:solidFill>
                <a:latin typeface="Segoe UI"/>
              </a:defRPr>
            </a:pPr>
            <a:r>
              <a:t>Proven performance under extreme stress, deployed live in production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1792224"/>
            <a:ext cx="2487168" cy="146304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2487168" cy="1463040"/>
          </a:xfrm>
          <a:prstGeom prst="roundRect">
            <a:avLst/>
          </a:prstGeom>
          <a:solidFill>
            <a:srgbClr val="DCFCE7"/>
          </a:solidFill>
          <a:ln w="279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28600"/>
          <a:lstStyle/>
          <a:p>
            <a:pPr algn="ctr">
              <a:defRPr sz="2800" b="1">
                <a:solidFill>
                  <a:srgbClr val="10B981"/>
                </a:solidFill>
                <a:latin typeface="Arial Black"/>
              </a:defRPr>
            </a:pPr>
            <a:r>
              <a:t>&lt; 150 ms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111827"/>
                </a:solidFill>
                <a:latin typeface="Segoe UI"/>
              </a:defRPr>
            </a:pPr>
            <a:r>
              <a:t>Autonomous Conflict Healing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792224"/>
            <a:ext cx="2487168" cy="146304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65576" y="1737360"/>
            <a:ext cx="2487168" cy="1463040"/>
          </a:xfrm>
          <a:prstGeom prst="roundRect">
            <a:avLst/>
          </a:prstGeom>
          <a:solidFill>
            <a:srgbClr val="DBEAFE"/>
          </a:solidFill>
          <a:ln w="279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28600"/>
          <a:lstStyle/>
          <a:p>
            <a:pPr algn="ctr">
              <a:defRPr sz="2800" b="1">
                <a:solidFill>
                  <a:srgbClr val="2563EB"/>
                </a:solidFill>
                <a:latin typeface="Arial Black"/>
              </a:defRPr>
            </a:pPr>
            <a:r>
              <a:t>500 / 500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Concurrent Stress Tests Passed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792224"/>
            <a:ext cx="2487168" cy="146304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99632" y="1737360"/>
            <a:ext cx="2487168" cy="1463040"/>
          </a:xfrm>
          <a:prstGeom prst="roundRect">
            <a:avLst/>
          </a:prstGeom>
          <a:solidFill>
            <a:srgbClr val="F3E8FF"/>
          </a:solidFill>
          <a:ln w="2794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28600"/>
          <a:lstStyle/>
          <a:p>
            <a:pPr algn="ctr">
              <a:defRPr sz="2800" b="1">
                <a:solidFill>
                  <a:srgbClr val="8B5CF6"/>
                </a:solidFill>
                <a:latin typeface="Arial Black"/>
              </a:defRPr>
            </a:pPr>
            <a:r>
              <a:t>4 Parallel LLMs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111827"/>
                </a:solidFill>
                <a:latin typeface="Segoe UI"/>
              </a:defRPr>
            </a:pPr>
            <a:r>
              <a:t>Groq Swarm Reasoning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88552" y="1792224"/>
            <a:ext cx="2487168" cy="146304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933688" y="1737360"/>
            <a:ext cx="2487168" cy="1463040"/>
          </a:xfrm>
          <a:prstGeom prst="roundRect">
            <a:avLst/>
          </a:prstGeom>
          <a:solidFill>
            <a:srgbClr val="FEF3C7"/>
          </a:solidFill>
          <a:ln w="279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28600"/>
          <a:lstStyle/>
          <a:p>
            <a:pPr algn="ctr">
              <a:defRPr sz="2800" b="1">
                <a:solidFill>
                  <a:srgbClr val="F59E0B"/>
                </a:solidFill>
                <a:latin typeface="Arial Black"/>
              </a:defRPr>
            </a:pPr>
            <a:r>
              <a:t>100% Automated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111827"/>
                </a:solidFill>
                <a:latin typeface="Segoe UI"/>
              </a:defRPr>
            </a:pPr>
            <a:r>
              <a:t>Zero Human Latency Required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" y="3483864"/>
            <a:ext cx="5212080" cy="297180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3429000"/>
            <a:ext cx="5212080" cy="297180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640080"/>
          <a:lstStyle/>
          <a:p>
            <a:pPr algn="ctr">
              <a:defRPr sz="1150" b="1">
                <a:solidFill>
                  <a:srgbClr val="2563EB"/>
                </a:solidFill>
                <a:latin typeface="Consolas"/>
              </a:defRPr>
            </a:pPr>
            <a:r>
              <a:t>Live URL: https://deltaengine.vercel.app/</a:t>
            </a:r>
          </a:p>
          <a:p>
            <a:pPr>
              <a:spcBef>
                <a:spcPts val="600"/>
              </a:spcBef>
              <a:defRPr sz="1100">
                <a:solidFill>
                  <a:srgbClr val="111827"/>
                </a:solidFill>
                <a:latin typeface="Segoe UI"/>
              </a:defRPr>
            </a:pPr>
            <a:r>
              <a:t>• Eliminates event scheduling delays and prevents room overcrowding.</a:t>
            </a:r>
          </a:p>
          <a:p>
            <a:pPr>
              <a:spcBef>
                <a:spcPts val="600"/>
              </a:spcBef>
              <a:defRPr sz="1100">
                <a:solidFill>
                  <a:srgbClr val="111827"/>
                </a:solidFill>
                <a:latin typeface="Segoe UI"/>
              </a:defRPr>
            </a:pPr>
            <a:r>
              <a:t>• Deterministic fallbacks ensure zero downtime even during API surges.</a:t>
            </a:r>
          </a:p>
          <a:p>
            <a:pPr>
              <a:spcBef>
                <a:spcPts val="600"/>
              </a:spcBef>
              <a:defRPr sz="1100">
                <a:solidFill>
                  <a:srgbClr val="111827"/>
                </a:solidFill>
                <a:latin typeface="Segoe UI"/>
              </a:defRPr>
            </a:pPr>
            <a:r>
              <a:t>• Next Roadmap: IoT room occupancy sensors &amp; Apple Wallet pass sync.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3611880"/>
            <a:ext cx="3108960" cy="320040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2563EB"/>
                </a:solidFill>
                <a:latin typeface="Segoe UI"/>
              </a:defRPr>
            </a:pPr>
            <a:r>
              <a:t>🚀 LIVE PRODUCTION DEPLOYMENT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4" y="3483864"/>
            <a:ext cx="5212080" cy="297180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0" y="3429000"/>
            <a:ext cx="5212080" cy="297180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777240"/>
          <a:lstStyle/>
          <a:p>
            <a:pPr algn="ctr">
              <a:spcBef>
                <a:spcPts val="0"/>
              </a:spcBef>
              <a:defRPr sz="1200" b="1">
                <a:solidFill>
                  <a:srgbClr val="111827"/>
                </a:solidFill>
                <a:latin typeface="Consolas"/>
              </a:defRPr>
            </a:pPr>
            <a:r>
              <a:t>👤 25BK2A66D5 - ARYAN PANDEY</a:t>
            </a:r>
          </a:p>
          <a:p>
            <a:pPr>
              <a:spcBef>
                <a:spcPts val="800"/>
              </a:spcBef>
              <a:defRPr sz="1200" b="1">
                <a:solidFill>
                  <a:srgbClr val="111827"/>
                </a:solidFill>
                <a:latin typeface="Consolas"/>
              </a:defRPr>
            </a:pPr>
            <a:r>
              <a:t>👤 25BK1A66J2 - SHAIK SHAHIDUDDIN</a:t>
            </a:r>
          </a:p>
          <a:p>
            <a:pPr>
              <a:spcBef>
                <a:spcPts val="800"/>
              </a:spcBef>
              <a:defRPr sz="1200" b="1">
                <a:solidFill>
                  <a:srgbClr val="111827"/>
                </a:solidFill>
                <a:latin typeface="Consolas"/>
              </a:defRPr>
            </a:pPr>
            <a:r>
              <a:t>👤 25BK1A66J6 - SURYANSH SINGH</a:t>
            </a:r>
          </a:p>
          <a:p>
            <a:pPr>
              <a:spcBef>
                <a:spcPts val="1800"/>
              </a:spcBef>
              <a:defRPr sz="1050" b="1">
                <a:solidFill>
                  <a:srgbClr val="4B5563"/>
                </a:solidFill>
                <a:latin typeface="Segoe UI"/>
              </a:defRPr>
            </a:pPr>
            <a:r>
              <a:t>DELTA ENGINE  |  Autonomous Event Operating System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3611880"/>
            <a:ext cx="2011680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111827"/>
                </a:solidFill>
                <a:latin typeface="Segoe UI"/>
              </a:defRPr>
            </a:pPr>
            <a:r>
              <a:t>TEAM DELTA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49640" y="3611880"/>
            <a:ext cx="2560320" cy="320040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2563EB"/>
                </a:solidFill>
                <a:latin typeface="Segoe UI"/>
              </a:defRPr>
            </a:pPr>
            <a:r>
              <a:t>2nd Year CSM-C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743200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111827"/>
                </a:solidFill>
                <a:latin typeface="Segoe UI"/>
              </a:defRPr>
            </a:pPr>
            <a:r>
              <a:t>06 | CONCLUSION &amp; Q&amp;A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32720" y="365760"/>
            <a:ext cx="1097280" cy="320040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2563EB"/>
                </a:solidFill>
                <a:latin typeface="Segoe UI"/>
              </a:defRPr>
            </a:pPr>
            <a:r>
              <a:t>07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111827"/>
                </a:solidFill>
                <a:latin typeface="Arial Black"/>
              </a:defRPr>
            </a:pPr>
            <a: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>
                <a:solidFill>
                  <a:srgbClr val="4B5563"/>
                </a:solidFill>
                <a:latin typeface="Segoe UI"/>
              </a:defRPr>
            </a:pPr>
            <a:r>
              <a:t>Autonomous &amp; Self-Healing Event Operating System — Open for Discussion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" y="1792224"/>
            <a:ext cx="6217920" cy="466344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6217920" cy="46634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365760"/>
          <a:lstStyle/>
          <a:p>
            <a:pPr algn="ctr">
              <a:defRPr sz="4400" b="1">
                <a:solidFill>
                  <a:srgbClr val="111827"/>
                </a:solidFill>
                <a:latin typeface="Arial Black"/>
              </a:defRPr>
            </a:pPr>
            <a:r>
              <a:t>THANK YOU!</a:t>
            </a:r>
          </a:p>
          <a:p>
            <a:pPr>
              <a:spcBef>
                <a:spcPts val="400"/>
              </a:spcBef>
              <a:defRPr sz="1800" b="1">
                <a:solidFill>
                  <a:srgbClr val="2563EB"/>
                </a:solidFill>
                <a:latin typeface="Segoe UI"/>
              </a:defRPr>
            </a:pPr>
            <a:r>
              <a:t>Any Questions or Discussion?</a:t>
            </a:r>
          </a:p>
          <a:p>
            <a:pPr>
              <a:spcBef>
                <a:spcPts val="1400"/>
              </a:spcBef>
              <a:defRPr sz="1200">
                <a:solidFill>
                  <a:srgbClr val="4B5563"/>
                </a:solidFill>
                <a:latin typeface="Segoe UI"/>
              </a:defRPr>
            </a:pPr>
            <a:r>
              <a:t>DELTA ENGINE demonstrates how autonomous multi-agent swarms and in-memory graph solvers can completely eliminate human panic in large-scale live events.</a:t>
            </a:r>
          </a:p>
          <a:p>
            <a:pPr>
              <a:spcBef>
                <a:spcPts val="800"/>
              </a:spcBef>
              <a:defRPr sz="1100" b="1">
                <a:solidFill>
                  <a:srgbClr val="111827"/>
                </a:solidFill>
                <a:latin typeface="Segoe UI"/>
              </a:defRPr>
            </a:pPr>
            <a:r>
              <a:t>• ⚡ &lt; 150ms Resolution: Sub-second autonomous healing latency</a:t>
            </a:r>
          </a:p>
          <a:p>
            <a:pPr>
              <a:spcBef>
                <a:spcPts val="800"/>
              </a:spcBef>
              <a:defRPr sz="1100" b="1">
                <a:solidFill>
                  <a:srgbClr val="111827"/>
                </a:solidFill>
                <a:latin typeface="Segoe UI"/>
              </a:defRPr>
            </a:pPr>
            <a:r>
              <a:t>• 🤖 4 Groq AI Agents: Parallel temporal, logistics, and broadcast logic</a:t>
            </a:r>
          </a:p>
          <a:p>
            <a:pPr>
              <a:spcBef>
                <a:spcPts val="800"/>
              </a:spcBef>
              <a:defRPr sz="1100" b="1">
                <a:solidFill>
                  <a:srgbClr val="111827"/>
                </a:solidFill>
                <a:latin typeface="Segoe UI"/>
              </a:defRPr>
            </a:pPr>
            <a:r>
              <a:t>• 🛡️ 100% Reliability: 500/500 high-concurrency stress test scenarios passed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87184" y="1792224"/>
            <a:ext cx="4297680" cy="4663440"/>
          </a:xfrm>
          <a:prstGeom prst="round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0" y="1737360"/>
            <a:ext cx="4297680" cy="4663440"/>
          </a:xfrm>
          <a:prstGeom prst="roundRect">
            <a:avLst/>
          </a:prstGeom>
          <a:solidFill>
            <a:srgbClr val="FFFFFF"/>
          </a:solidFill>
          <a:ln w="2794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77240"/>
          <a:lstStyle/>
          <a:p>
            <a:pPr algn="ctr">
              <a:defRPr sz="1100" b="1">
                <a:solidFill>
                  <a:srgbClr val="4B5563"/>
                </a:solidFill>
                <a:latin typeface="Arial Black"/>
              </a:defRPr>
            </a:pPr>
            <a:r>
              <a:t>PROJECT AUTHORS</a:t>
            </a:r>
          </a:p>
          <a:p>
            <a:pPr>
              <a:spcBef>
                <a:spcPts val="800"/>
              </a:spcBef>
              <a:defRPr sz="1100" b="1">
                <a:solidFill>
                  <a:srgbClr val="111827"/>
                </a:solidFill>
                <a:latin typeface="Consolas"/>
              </a:defRPr>
            </a:pPr>
            <a:r>
              <a:t>👤 25BK2A66D5 - ARYAN PANDEY</a:t>
            </a:r>
          </a:p>
          <a:p>
            <a:pPr>
              <a:spcBef>
                <a:spcPts val="800"/>
              </a:spcBef>
              <a:defRPr sz="1100" b="1">
                <a:solidFill>
                  <a:srgbClr val="111827"/>
                </a:solidFill>
                <a:latin typeface="Consolas"/>
              </a:defRPr>
            </a:pPr>
            <a:r>
              <a:t>👤 25BK1A66J2 - SHAIK SHAHIDUDDIN</a:t>
            </a:r>
          </a:p>
          <a:p>
            <a:pPr>
              <a:spcBef>
                <a:spcPts val="800"/>
              </a:spcBef>
              <a:defRPr sz="1100" b="1">
                <a:solidFill>
                  <a:srgbClr val="111827"/>
                </a:solidFill>
                <a:latin typeface="Consolas"/>
              </a:defRPr>
            </a:pPr>
            <a:r>
              <a:t>👤 25BK1A66J6 - SURYANSH SINGH</a:t>
            </a:r>
          </a:p>
          <a:p>
            <a:pPr>
              <a:spcBef>
                <a:spcPts val="1000"/>
              </a:spcBef>
              <a:defRPr sz="900">
                <a:solidFill>
                  <a:srgbClr val="4B5563"/>
                </a:solidFill>
                <a:latin typeface="Segoe UI"/>
              </a:defRPr>
            </a:pPr>
            <a:r>
              <a:t>───────────────</a:t>
            </a:r>
          </a:p>
          <a:p>
            <a:pPr>
              <a:spcBef>
                <a:spcPts val="400"/>
              </a:spcBef>
              <a:defRPr sz="1000" b="1">
                <a:solidFill>
                  <a:srgbClr val="111827"/>
                </a:solidFill>
                <a:latin typeface="Segoe UI"/>
              </a:defRPr>
            </a:pPr>
            <a:r>
              <a:t>🌐 LIVE PRODUCTION SYSTEM:</a:t>
            </a:r>
          </a:p>
          <a:p>
            <a:pPr>
              <a:spcBef>
                <a:spcPts val="200"/>
              </a:spcBef>
              <a:defRPr sz="1100" b="1">
                <a:solidFill>
                  <a:srgbClr val="2563EB"/>
                </a:solidFill>
                <a:latin typeface="Consolas"/>
              </a:defRPr>
            </a:pPr>
            <a:r>
              <a:t>https://deltaengine.vercel.app/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965960"/>
            <a:ext cx="1828800" cy="32004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111827"/>
                </a:solidFill>
                <a:latin typeface="Segoe UI"/>
              </a:defRPr>
            </a:pPr>
            <a:r>
              <a:t>TEAM DELTA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1965960"/>
            <a:ext cx="1828800" cy="320040"/>
          </a:xfrm>
          <a:prstGeom prst="roundRect">
            <a:avLst/>
          </a:prstGeom>
          <a:solidFill>
            <a:srgbClr val="DBEAFE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defRPr b="1" sz="1000">
                <a:solidFill>
                  <a:srgbClr val="2563EB"/>
                </a:solidFill>
                <a:latin typeface="Segoe UI"/>
              </a:defRPr>
            </a:pPr>
            <a:r>
              <a:t>2nd Year CSM-C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